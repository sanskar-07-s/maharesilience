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distinguished evaluators and professors. I am Sanskar Dhat, and today I present MahaResilience—a unified civic-tech and emergency resilience engine engineered specifically for citizens, municipal corporations, and utility boards across Maharashtra. Historically, public services operate in isolated silos: separate portals for electricity outages, paper water bills, delayed disaster warnings, and fragmented municipal grievance desks. MahaResilience integrates these essential functions into one cohesive, cloud-native platform accessible at mahareilience.web.app with verified real-time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contrast the existing civic landscape with MahaResilience's unified engineering approach. Today, citizens in Maharashtra confront 5 critical pain points: siloed municipal grievance handling, delayed disaster alerts that lack district geofencing, severe distress communication friction, opaque utility bills with disputed late fees, and complete application failures during network blackouts. MahaResilience directly solves each bottleneck: our geofenced alert engine ensures Kolhapur residents don't get flooded with Pune alerts; our one-touch SOS dispatches exact GPS coordinates via SMS and email; and our offline IndexedDB persistence guarantees safety data is accessible even when cellular networks go down.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outlines our verified technology stack. On the client, React 18 and Vite deliver sub-second initial bundle loading with TailwindCSS. Our backend runs on Express and Node.js with Prisma ORM. Crucially, we employ a hybrid dual-database architecture: PostgreSQL handles relational data like users, volunteers, and complaints, while Cloud Firestore delivers real-time websocket streams for live alert banners, nested comments, and ticket statuses. Communication is powered by Twilio and Brevo REST APIs, GIS is driven by Leaflet and MapTiler, and AI assistance is supplied by Google Gemini.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illustrates our dual-channel architecture. The left column shows the React client with built-in Web Audio siren and offline caches. In the center, notice our two data pathways: Channel 1 connects directly to Cloud Firestore using onSnapshot listeners for zero-latency reactive feeds. Channel 2 routes sensitive business logic—like tariff calculations and Twilio SMS dispatches—through our Express REST backend. This separation guarantees that even if a free-tier Render backend instance is cold-starting, the client's direct Brevo API and Firestore offline queue ensure zero loss of critical emergency dispatches.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citizen services and grievance redressal workflow. When a citizen reports a pothole or garbage dump, their camera image uploads through Cloudinary with auto-populated GPS coordinates. We implemented a dynamic priority scoring algorithm where complaints automatically escalate in severity as elapsed days increase and more community members upvote the issue. Additionally, our Civic Facility Board provides a unified dispatch lifecycle for municipal water tankers, compactor trucks, and power lines, while the community feed fosters local dialogue with real-time comments and moderation controls.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our utility billing automation. On the left is our MSEDCL electricity calculator, which implements the exact MERC tariff slabs: ₹4.71 for the first 100 units and ₹10.29 for units 101 to 300, with a 16% state electricity duty. On the right is our municipal water calculator, costing ₹12.50 per kilolitre with a 20% sewerage cess. Our billing engine handles 4 multi-month ledger scenarios: on-time payments, overdue bills with DPC late fees, overpayment advance credits, and solar energy subsidies. Upon settlement, the system formats an official digital tax invoice and dispatches it via the Brevo transactional email 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showcases our life-safety and emergency response engine. A single press of the SOS button triggers 3 immediate actions: first, the browser synthesizes a loud audio siren using the Web Audio API; second, exact GPS coordinates are resolved into a Google Maps tracking URL; and third, redundant broadcasts fire via Twilio SMS and Brevo transactional emails to family contacts and local authorities. Our geofenced alert engine maps feeds to India's NDMA Sachet schema, eliminating warning fatigue by displaying alerts only to citizens physically located in the affected district or radius.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focuses on our intelligence layer: Google Gemini AI, MapTiler GIS, and our proprietary Resilience Score. Our AI assistant isn't a canned chatbot; it connects directly to Gemini 1.5 and 2.0 Flash, complete with voice dictation and speech output in Marathi, Hindi, and English. On the mapping side, we integrate MapTiler and OSRM for turn-by-turn routing with custom pins for hospitals, shelters, and grievances. Finally, our Resilience Score computes a live 0-to-100 metric weighting meteorological disaster penalties, open civic complaints, and infrastructure readiness into clear safe, watch, and critical zones.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governance, security, and our honest technical testing audit. MahaResilience establishes 13 administrative portals, giving specialized officers in Water, Power, Health, and Waste dedicated desks while preserving Super Admin master governance. Our security enforces JWT session claims, bcrypt hashing, and automated account lockout after 5 failed attempts. In our testing audit, production builds for both frontend and backend compile cleanly, and live dispatches have been functionally verified. Transparently, automated CI test suites and strict Firestore security rules are documented as immediate future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MahaResilience demonstrates that modern civic technology can be both deeply practical and life-saving. As part of our Community Engagement Program (CEP 231CSECEPP201) at D.Y. Patil College of Engineering &amp; Technology, Kolhapur, the project directly fulfills all four Institute Priority Goals under NEP 2020: SDG 3 (Healthcare and Emergency Triage), SDG 8 (Rural APMC Economic Discovery and Digital Billing), SDG 16 (Transparent E-Governance and Immutable Audit Trails), and SDG 17 (Multi-Stakeholder Partnerships with Kasaba Bawada Gram Panchayat, KMC, and SDRF). We have unified grievance redressal, geofenced disaster advisories, 1-touch emergency SOS dispatches, and automated utility billing into a resilient platform that functions even when disconnected from the internet. We will now proceed directly into the 5-step live demonstration. Thank you for your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640080"/>
            <a:ext cx="3840480" cy="320040"/>
          </a:xfrm>
          <a:prstGeom prst="roundRect">
            <a:avLst/>
          </a:prstGeom>
          <a:solidFill>
            <a:srgbClr val="0E7490"/>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0F9FF"/>
                </a:solidFill>
                <a:latin typeface="Segoe UI"/>
              </a:defRPr>
            </a:pPr>
            <a:r>
              <a:t>CIVIC-TECH &amp; DISASTER RESILIENCE • MAHARASHTRA DOMAIN</a:t>
            </a:r>
          </a:p>
        </p:txBody>
      </p:sp>
      <p:sp>
        <p:nvSpPr>
          <p:cNvPr id="4" name="TextBox 3"/>
          <p:cNvSpPr txBox="1"/>
          <p:nvPr/>
        </p:nvSpPr>
        <p:spPr>
          <a:xfrm>
            <a:off x="914400" y="1051560"/>
            <a:ext cx="7772400" cy="2011680"/>
          </a:xfrm>
          <a:prstGeom prst="rect">
            <a:avLst/>
          </a:prstGeom>
          <a:noFill/>
        </p:spPr>
        <p:txBody>
          <a:bodyPr wrap="square">
            <a:spAutoFit/>
          </a:bodyPr>
          <a:lstStyle/>
          <a:p>
            <a:pPr>
              <a:defRPr sz="4000" b="1">
                <a:solidFill>
                  <a:srgbClr val="FFFFFF"/>
                </a:solidFill>
                <a:latin typeface="Segoe UI"/>
              </a:defRPr>
            </a:pPr>
            <a:r>
              <a:t>MahaResilience</a:t>
            </a:r>
          </a:p>
          <a:p>
            <a:pPr>
              <a:spcBef>
                <a:spcPts val="400"/>
              </a:spcBef>
              <a:defRPr sz="1900" b="1">
                <a:solidFill>
                  <a:srgbClr val="38BDF8"/>
                </a:solidFill>
                <a:latin typeface="Segoe UI"/>
              </a:defRPr>
            </a:pPr>
            <a:r>
              <a:t>Smart Community Hub &amp; Civic Management Engine</a:t>
            </a:r>
          </a:p>
          <a:p>
            <a:pPr>
              <a:spcBef>
                <a:spcPts val="1000"/>
              </a:spcBef>
              <a:defRPr sz="1200">
                <a:solidFill>
                  <a:srgbClr val="CBD5E1"/>
                </a:solidFill>
                <a:latin typeface="Segoe UI"/>
              </a:defRPr>
            </a:pPr>
            <a:r>
              <a:t>A unified, cloud-native platform bridging municipal grievance redressal, geofenced disaster advisories, 1-touch emergency SOS dispatch, and automated municipal utility billing across Maharashtra.</a:t>
            </a:r>
          </a:p>
        </p:txBody>
      </p:sp>
      <p:sp>
        <p:nvSpPr>
          <p:cNvPr id="5" name="Rounded Rectangle 4"/>
          <p:cNvSpPr/>
          <p:nvPr/>
        </p:nvSpPr>
        <p:spPr>
          <a:xfrm>
            <a:off x="914400" y="324612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50" b="1">
                <a:solidFill>
                  <a:srgbClr val="F1F5F9"/>
                </a:solidFill>
                <a:latin typeface="Segoe UI"/>
              </a:defRPr>
            </a:pPr>
            <a:r>
              <a:t>🚨 Disaster &amp; Weather Alerts</a:t>
            </a:r>
          </a:p>
          <a:p>
            <a:pPr>
              <a:spcBef>
                <a:spcPts val="600"/>
              </a:spcBef>
              <a:defRPr sz="950">
                <a:solidFill>
                  <a:srgbClr val="94A3B8"/>
                </a:solidFill>
                <a:latin typeface="Segoe UI"/>
              </a:defRPr>
            </a:pPr>
            <a:r>
              <a:t>Geofenced NDMA Sachet/GDACS alerts, AQI advisories, and synthesized emergency siren audio.</a:t>
            </a:r>
          </a:p>
        </p:txBody>
      </p:sp>
      <p:sp>
        <p:nvSpPr>
          <p:cNvPr id="6" name="Rounded Rectangle 5"/>
          <p:cNvSpPr/>
          <p:nvPr/>
        </p:nvSpPr>
        <p:spPr>
          <a:xfrm>
            <a:off x="3520440" y="324612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50" b="1">
                <a:solidFill>
                  <a:srgbClr val="F1F5F9"/>
                </a:solidFill>
                <a:latin typeface="Segoe UI"/>
              </a:defRPr>
            </a:pPr>
            <a:r>
              <a:t>🆘 1-Touch Emergency SOS</a:t>
            </a:r>
          </a:p>
          <a:p>
            <a:pPr>
              <a:spcBef>
                <a:spcPts val="600"/>
              </a:spcBef>
              <a:defRPr sz="950">
                <a:solidFill>
                  <a:srgbClr val="94A3B8"/>
                </a:solidFill>
                <a:latin typeface="Segoe UI"/>
              </a:defRPr>
            </a:pPr>
            <a:r>
              <a:t>Instant distress transmission via Twilio SMS, Brevo HTML email with live GPS, and Firestore logging.</a:t>
            </a:r>
          </a:p>
        </p:txBody>
      </p:sp>
      <p:sp>
        <p:nvSpPr>
          <p:cNvPr id="7" name="Rounded Rectangle 6"/>
          <p:cNvSpPr/>
          <p:nvPr/>
        </p:nvSpPr>
        <p:spPr>
          <a:xfrm>
            <a:off x="6126480" y="324612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50" b="1">
                <a:solidFill>
                  <a:srgbClr val="F1F5F9"/>
                </a:solidFill>
                <a:latin typeface="Segoe UI"/>
              </a:defRPr>
            </a:pPr>
            <a:r>
              <a:t>📋 Public Grievance Desk</a:t>
            </a:r>
          </a:p>
          <a:p>
            <a:pPr>
              <a:spcBef>
                <a:spcPts val="600"/>
              </a:spcBef>
              <a:defRPr sz="950">
                <a:solidFill>
                  <a:srgbClr val="94A3B8"/>
                </a:solidFill>
                <a:latin typeface="Segoe UI"/>
              </a:defRPr>
            </a:pPr>
            <a:r>
              <a:t>Citizen reporting for road potholes, waste dumping, and streetlights with Cloudinary photo evidence.</a:t>
            </a:r>
          </a:p>
        </p:txBody>
      </p:sp>
      <p:sp>
        <p:nvSpPr>
          <p:cNvPr id="8" name="Rounded Rectangle 7"/>
          <p:cNvSpPr/>
          <p:nvPr/>
        </p:nvSpPr>
        <p:spPr>
          <a:xfrm>
            <a:off x="8732520" y="3246120"/>
            <a:ext cx="2423160"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150" b="1">
                <a:solidFill>
                  <a:srgbClr val="F1F5F9"/>
                </a:solidFill>
                <a:latin typeface="Segoe UI"/>
              </a:defRPr>
            </a:pPr>
            <a:r>
              <a:t>⚡ Utility Billing Engine</a:t>
            </a:r>
          </a:p>
          <a:p>
            <a:pPr>
              <a:spcBef>
                <a:spcPts val="600"/>
              </a:spcBef>
              <a:defRPr sz="950">
                <a:solidFill>
                  <a:srgbClr val="94A3B8"/>
                </a:solidFill>
                <a:latin typeface="Segoe UI"/>
              </a:defRPr>
            </a:pPr>
            <a:r>
              <a:t>MSEDCL electricity and PMC water consumption lookup, multi-month ledger, and automated tax invoices.</a:t>
            </a:r>
          </a:p>
        </p:txBody>
      </p:sp>
      <p:sp>
        <p:nvSpPr>
          <p:cNvPr id="9" name="Rounded Rectangle 8"/>
          <p:cNvSpPr/>
          <p:nvPr/>
        </p:nvSpPr>
        <p:spPr>
          <a:xfrm>
            <a:off x="914400" y="5074920"/>
            <a:ext cx="10378440" cy="1051560"/>
          </a:xfrm>
          <a:prstGeom prst="roundRect">
            <a:avLst/>
          </a:prstGeom>
          <a:solidFill>
            <a:srgbClr val="18263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1050" b="1">
                <a:solidFill>
                  <a:srgbClr val="FFFFFF"/>
                </a:solidFill>
                <a:latin typeface="Segoe UI"/>
              </a:defRPr>
            </a:pPr>
            <a:r>
              <a:t>Lead Innovator &amp; Presenter: Sanskar Dhat  |  Contact: sanskardhat6@gmail.com  |  Framework: React 18 • Node.js • Prisma • Firestore</a:t>
            </a:r>
          </a:p>
          <a:p>
            <a:pPr>
              <a:spcBef>
                <a:spcPts val="400"/>
              </a:spcBef>
              <a:defRPr sz="1000">
                <a:solidFill>
                  <a:srgbClr val="38BDF8"/>
                </a:solidFill>
                <a:latin typeface="Segoe UI"/>
              </a:defRPr>
            </a:pPr>
            <a:r>
              <a:t>Live Verified Portal: https://mahareilience.web.app   •   API Engine: https://maharesilience.onrender.com   •   36 Maharashtra Districts</a:t>
            </a:r>
          </a:p>
        </p:txBody>
      </p:sp>
      <p:pic>
        <p:nvPicPr>
          <p:cNvPr id="10" name="Picture 9" descr="qr_code.png"/>
          <p:cNvPicPr>
            <a:picLocks noChangeAspect="1"/>
          </p:cNvPicPr>
          <p:nvPr/>
        </p:nvPicPr>
        <p:blipFill>
          <a:blip r:embed="rId2"/>
          <a:stretch>
            <a:fillRect/>
          </a:stretch>
        </p:blipFill>
        <p:spPr>
          <a:xfrm>
            <a:off x="9875520" y="1097280"/>
            <a:ext cx="1280160" cy="1280160"/>
          </a:xfrm>
          <a:prstGeom prst="rect">
            <a:avLst/>
          </a:prstGeom>
        </p:spPr>
      </p:pic>
      <p:sp>
        <p:nvSpPr>
          <p:cNvPr id="11" name="TextBox 10"/>
          <p:cNvSpPr txBox="1"/>
          <p:nvPr/>
        </p:nvSpPr>
        <p:spPr>
          <a:xfrm>
            <a:off x="9692640" y="2423160"/>
            <a:ext cx="1645920" cy="365760"/>
          </a:xfrm>
          <a:prstGeom prst="rect">
            <a:avLst/>
          </a:prstGeom>
          <a:noFill/>
        </p:spPr>
        <p:txBody>
          <a:bodyPr wrap="none">
            <a:spAutoFit/>
          </a:bodyPr>
          <a:lstStyle/>
          <a:p>
            <a:pPr algn="ctr">
              <a:defRPr sz="800" b="1">
                <a:solidFill>
                  <a:srgbClr val="94A3B8"/>
                </a:solidFill>
                <a:latin typeface="Segoe UI"/>
              </a:defRPr>
            </a:pPr>
            <a:r>
              <a:t>SCAN FOR LIVE APP</a:t>
            </a:r>
          </a:p>
        </p:txBody>
      </p:sp>
      <p:sp>
        <p:nvSpPr>
          <p:cNvPr id="12" name="TextBox 11"/>
          <p:cNvSpPr txBox="1"/>
          <p:nvPr/>
        </p:nvSpPr>
        <p:spPr>
          <a:xfrm>
            <a:off x="731520" y="6355080"/>
            <a:ext cx="10698480" cy="320040"/>
          </a:xfrm>
          <a:prstGeom prst="rect">
            <a:avLst/>
          </a:prstGeom>
          <a:noFill/>
        </p:spPr>
        <p:txBody>
          <a:bodyPr wrap="square" lIns="0" tIns="0" rIns="0" bIns="0">
            <a:spAutoFit/>
          </a:bodyPr>
          <a:lstStyle/>
          <a:p>
            <a:pPr>
              <a:defRPr sz="900">
                <a:solidFill>
                  <a:srgbClr val="94A3B8"/>
                </a:solidFill>
                <a:latin typeface="Segoe UI"/>
              </a:defRPr>
            </a:pPr>
            <a:r>
              <a:t>MahaResilience (Smart Community Hub)  |  Presenter: Sanskar Dhat  |  Portal: mahareilience.web.app</a:t>
            </a:r>
          </a:p>
          <a:p>
            <a:pPr algn="r">
              <a:defRPr sz="900" b="1">
                <a:solidFill>
                  <a:srgbClr val="94A3B8"/>
                </a:solidFill>
                <a:latin typeface="Segoe UI"/>
              </a:defRPr>
            </a:pPr>
            <a:r>
              <a:t>Slide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CHALLENGES &amp; ARCHITECTURAL INTERVENTION</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Problem Statement &amp; The Unified Solution</a:t>
            </a:r>
          </a:p>
          <a:p>
            <a:pPr>
              <a:spcBef>
                <a:spcPts val="300"/>
              </a:spcBef>
              <a:defRPr sz="1200">
                <a:solidFill>
                  <a:srgbClr val="475569"/>
                </a:solidFill>
                <a:latin typeface="Segoe UI"/>
              </a:defRPr>
            </a:pPr>
            <a:r>
              <a:t>Bridging public service gaps between citizens, municipal corporations &amp; emergency authorities</a:t>
            </a:r>
          </a:p>
        </p:txBody>
      </p:sp>
      <p:sp>
        <p:nvSpPr>
          <p:cNvPr id="4" name="Rounded Rectangle 3"/>
          <p:cNvSpPr/>
          <p:nvPr/>
        </p:nvSpPr>
        <p:spPr>
          <a:xfrm>
            <a:off x="731520" y="1691640"/>
            <a:ext cx="5120640" cy="448056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500" b="1">
                <a:solidFill>
                  <a:srgbClr val="B91C1C"/>
                </a:solidFill>
                <a:latin typeface="Segoe UI"/>
              </a:defRPr>
            </a:pPr>
            <a:r>
              <a:t>⚠️ Real-World Challenges Addressed</a:t>
            </a:r>
          </a:p>
          <a:p>
            <a:pPr>
              <a:spcBef>
                <a:spcPts val="800"/>
              </a:spcBef>
              <a:defRPr sz="1100" b="1">
                <a:solidFill>
                  <a:srgbClr val="991B1B"/>
                </a:solidFill>
                <a:latin typeface="Segoe UI"/>
              </a:defRPr>
            </a:pPr>
            <a:r>
              <a:t>• Fragmented Civic Grievances:</a:t>
            </a:r>
          </a:p>
          <a:p>
            <a:pPr>
              <a:defRPr sz="950">
                <a:solidFill>
                  <a:srgbClr val="475569"/>
                </a:solidFill>
                <a:latin typeface="Segoe UI"/>
              </a:defRPr>
            </a:pPr>
            <a:r>
              <a:t>  Citizens must navigate disconnected ULB portals with no unified photo tracking, GPS pinning, or priority feedback.</a:t>
            </a:r>
          </a:p>
          <a:p>
            <a:pPr>
              <a:spcBef>
                <a:spcPts val="800"/>
              </a:spcBef>
              <a:defRPr sz="1100" b="1">
                <a:solidFill>
                  <a:srgbClr val="991B1B"/>
                </a:solidFill>
                <a:latin typeface="Segoe UI"/>
              </a:defRPr>
            </a:pPr>
            <a:r>
              <a:t>• Delayed &amp; Non-Geofenced Disaster Alerts:</a:t>
            </a:r>
          </a:p>
          <a:p>
            <a:pPr>
              <a:defRPr sz="950">
                <a:solidFill>
                  <a:srgbClr val="475569"/>
                </a:solidFill>
                <a:latin typeface="Segoe UI"/>
              </a:defRPr>
            </a:pPr>
            <a:r>
              <a:t>  Statewide advisories create warning fatigue; citizens in specific flood or landslide zones miss localized early warnings.</a:t>
            </a:r>
          </a:p>
          <a:p>
            <a:pPr>
              <a:spcBef>
                <a:spcPts val="800"/>
              </a:spcBef>
              <a:defRPr sz="1100" b="1">
                <a:solidFill>
                  <a:srgbClr val="991B1B"/>
                </a:solidFill>
                <a:latin typeface="Segoe UI"/>
              </a:defRPr>
            </a:pPr>
            <a:r>
              <a:t>• Friction in Distress Communications:</a:t>
            </a:r>
          </a:p>
          <a:p>
            <a:pPr>
              <a:defRPr sz="950">
                <a:solidFill>
                  <a:srgbClr val="475569"/>
                </a:solidFill>
                <a:latin typeface="Segoe UI"/>
              </a:defRPr>
            </a:pPr>
            <a:r>
              <a:t>  In crises, citizens struggle to notify family and local disaster authorities with precise GPS navigation coordinates simultaneously.</a:t>
            </a:r>
          </a:p>
          <a:p>
            <a:pPr>
              <a:spcBef>
                <a:spcPts val="800"/>
              </a:spcBef>
              <a:defRPr sz="1100" b="1">
                <a:solidFill>
                  <a:srgbClr val="991B1B"/>
                </a:solidFill>
                <a:latin typeface="Segoe UI"/>
              </a:defRPr>
            </a:pPr>
            <a:r>
              <a:t>• Opaque Municipal Utility Billing:</a:t>
            </a:r>
          </a:p>
          <a:p>
            <a:pPr>
              <a:defRPr sz="950">
                <a:solidFill>
                  <a:srgbClr val="475569"/>
                </a:solidFill>
                <a:latin typeface="Segoe UI"/>
              </a:defRPr>
            </a:pPr>
            <a:r>
              <a:t>  Delayed MSEDCL power bills, lack of transparent late payment surcharge calculations, and absence of instant digital tax invoices.</a:t>
            </a:r>
          </a:p>
          <a:p>
            <a:pPr>
              <a:spcBef>
                <a:spcPts val="800"/>
              </a:spcBef>
              <a:defRPr sz="1100" b="1">
                <a:solidFill>
                  <a:srgbClr val="991B1B"/>
                </a:solidFill>
                <a:latin typeface="Segoe UI"/>
              </a:defRPr>
            </a:pPr>
            <a:r>
              <a:t>• Offline Service Vulnerability:</a:t>
            </a:r>
          </a:p>
          <a:p>
            <a:pPr>
              <a:defRPr sz="950">
                <a:solidFill>
                  <a:srgbClr val="475569"/>
                </a:solidFill>
                <a:latin typeface="Segoe UI"/>
              </a:defRPr>
            </a:pPr>
            <a:r>
              <a:t>  Disasters sever cell towers and power grids; standard civic web applications crash completely without an internet connection.</a:t>
            </a:r>
          </a:p>
        </p:txBody>
      </p:sp>
      <p:sp>
        <p:nvSpPr>
          <p:cNvPr id="5" name="Rounded Rectangle 4"/>
          <p:cNvSpPr/>
          <p:nvPr/>
        </p:nvSpPr>
        <p:spPr>
          <a:xfrm>
            <a:off x="6309360" y="1691640"/>
            <a:ext cx="5120640" cy="448056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500" b="1">
                <a:solidFill>
                  <a:srgbClr val="15803D"/>
                </a:solidFill>
                <a:latin typeface="Segoe UI"/>
              </a:defRPr>
            </a:pPr>
            <a:r>
              <a:t>✓ MahaResilience Implemented Solution</a:t>
            </a:r>
          </a:p>
          <a:p>
            <a:pPr>
              <a:spcBef>
                <a:spcPts val="800"/>
              </a:spcBef>
              <a:defRPr sz="1100" b="1">
                <a:solidFill>
                  <a:srgbClr val="166534"/>
                </a:solidFill>
                <a:latin typeface="Segoe UI"/>
              </a:defRPr>
            </a:pPr>
            <a:r>
              <a:t>• Unified Redressal Engine:</a:t>
            </a:r>
          </a:p>
          <a:p>
            <a:pPr>
              <a:defRPr sz="950">
                <a:solidFill>
                  <a:srgbClr val="475569"/>
                </a:solidFill>
                <a:latin typeface="Segoe UI"/>
              </a:defRPr>
            </a:pPr>
            <a:r>
              <a:t>  Single complaint hub with Cloudinary photo capture, GPS tagging, and dynamic priority scoring algorithm.</a:t>
            </a:r>
          </a:p>
          <a:p>
            <a:pPr>
              <a:spcBef>
                <a:spcPts val="800"/>
              </a:spcBef>
              <a:defRPr sz="1100" b="1">
                <a:solidFill>
                  <a:srgbClr val="166534"/>
                </a:solidFill>
                <a:latin typeface="Segoe UI"/>
              </a:defRPr>
            </a:pPr>
            <a:r>
              <a:t>• Spatial Geofencing &amp; Audio Alerts:</a:t>
            </a:r>
          </a:p>
          <a:p>
            <a:pPr>
              <a:defRPr sz="950">
                <a:solidFill>
                  <a:srgbClr val="475569"/>
                </a:solidFill>
                <a:latin typeface="Segoe UI"/>
              </a:defRPr>
            </a:pPr>
            <a:r>
              <a:t>  Haversine-filtered alerts for District/Taluka/Ward with zero alarm fatigue and Web Audio synthesized sirens.</a:t>
            </a:r>
          </a:p>
          <a:p>
            <a:pPr>
              <a:spcBef>
                <a:spcPts val="800"/>
              </a:spcBef>
              <a:defRPr sz="1100" b="1">
                <a:solidFill>
                  <a:srgbClr val="166534"/>
                </a:solidFill>
                <a:latin typeface="Segoe UI"/>
              </a:defRPr>
            </a:pPr>
            <a:r>
              <a:t>• 1-Touch Multi-Channel SOS Beacon:</a:t>
            </a:r>
          </a:p>
          <a:p>
            <a:pPr>
              <a:defRPr sz="950">
                <a:solidFill>
                  <a:srgbClr val="475569"/>
                </a:solidFill>
                <a:latin typeface="Segoe UI"/>
              </a:defRPr>
            </a:pPr>
            <a:r>
              <a:t>  Simultaneous dispatch of Twilio SMS and Brevo transactional emails containing live Google Maps location links.</a:t>
            </a:r>
          </a:p>
          <a:p>
            <a:pPr>
              <a:spcBef>
                <a:spcPts val="800"/>
              </a:spcBef>
              <a:defRPr sz="1100" b="1">
                <a:solidFill>
                  <a:srgbClr val="166534"/>
                </a:solidFill>
                <a:latin typeface="Segoe UI"/>
              </a:defRPr>
            </a:pPr>
            <a:r>
              <a:t>• Automated Tariff &amp; Ledger Simulator:</a:t>
            </a:r>
          </a:p>
          <a:p>
            <a:pPr>
              <a:defRPr sz="950">
                <a:solidFill>
                  <a:srgbClr val="475569"/>
                </a:solidFill>
                <a:latin typeface="Segoe UI"/>
              </a:defRPr>
            </a:pPr>
            <a:r>
              <a:t>  Instant lookup for MSEDCL electricity &amp; water bills, multi-month ledger breakdown, and official PDF/HTML tax invoices.</a:t>
            </a:r>
          </a:p>
          <a:p>
            <a:pPr>
              <a:spcBef>
                <a:spcPts val="800"/>
              </a:spcBef>
              <a:defRPr sz="1100" b="1">
                <a:solidFill>
                  <a:srgbClr val="166534"/>
                </a:solidFill>
                <a:latin typeface="Segoe UI"/>
              </a:defRPr>
            </a:pPr>
            <a:r>
              <a:t>• Dual-Layer Offline Persistence:</a:t>
            </a:r>
          </a:p>
          <a:p>
            <a:pPr>
              <a:defRPr sz="950">
                <a:solidFill>
                  <a:srgbClr val="475569"/>
                </a:solidFill>
                <a:latin typeface="Segoe UI"/>
              </a:defRPr>
            </a:pPr>
            <a:r>
              <a:t>  Cloud Firestore multi-tab cache combined with native IndexedDB pre-seeded emergency contacts and disaster safety guides.</a:t>
            </a:r>
          </a:p>
        </p:txBody>
      </p:sp>
      <p:sp>
        <p:nvSpPr>
          <p:cNvPr id="6" name="TextBox 5"/>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2 of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ENGINEERING STACK &amp; ECOSYSTEM</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Technology Stack &amp; Production Infrastructure</a:t>
            </a:r>
          </a:p>
          <a:p>
            <a:pPr>
              <a:spcBef>
                <a:spcPts val="300"/>
              </a:spcBef>
              <a:defRPr sz="1200">
                <a:solidFill>
                  <a:srgbClr val="475569"/>
                </a:solidFill>
                <a:latin typeface="Segoe UI"/>
              </a:defRPr>
            </a:pPr>
            <a:r>
              <a:t>Verified, production-grade tools, libraries, cloud databases, and third-party APIs</a:t>
            </a:r>
          </a:p>
        </p:txBody>
      </p:sp>
      <p:sp>
        <p:nvSpPr>
          <p:cNvPr id="4" name="Rounded Rectangle 3"/>
          <p:cNvSpPr/>
          <p:nvPr/>
        </p:nvSpPr>
        <p:spPr>
          <a:xfrm>
            <a:off x="731520" y="1691640"/>
            <a:ext cx="2542032" cy="4297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4672" y="1764792"/>
            <a:ext cx="2395728" cy="502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Frontend Client Layer</a:t>
            </a:r>
          </a:p>
        </p:txBody>
      </p:sp>
      <p:sp>
        <p:nvSpPr>
          <p:cNvPr id="6" name="TextBox 5"/>
          <p:cNvSpPr txBox="1"/>
          <p:nvPr/>
        </p:nvSpPr>
        <p:spPr>
          <a:xfrm>
            <a:off x="868680" y="2350008"/>
            <a:ext cx="2267712" cy="3566160"/>
          </a:xfrm>
          <a:prstGeom prst="rect">
            <a:avLst/>
          </a:prstGeom>
          <a:noFill/>
        </p:spPr>
        <p:txBody>
          <a:bodyPr wrap="square">
            <a:spAutoFit/>
          </a:bodyPr>
          <a:lstStyle/>
          <a:p>
            <a:pPr>
              <a:defRPr sz="950" b="1">
                <a:solidFill>
                  <a:srgbClr val="1E293B"/>
                </a:solidFill>
                <a:latin typeface="Segoe UI"/>
              </a:defRPr>
            </a:pPr>
            <a:r>
              <a:t>Core Framework</a:t>
            </a:r>
          </a:p>
          <a:p>
            <a:pPr>
              <a:defRPr sz="900">
                <a:solidFill>
                  <a:srgbClr val="475569"/>
                </a:solidFill>
                <a:latin typeface="Segoe UI"/>
              </a:defRPr>
            </a:pPr>
            <a:r>
              <a:t>React 18.2.0 • TypeScript 5.2.2</a:t>
            </a:r>
          </a:p>
          <a:p>
            <a:pPr>
              <a:spcBef>
                <a:spcPts val="800"/>
              </a:spcBef>
              <a:defRPr sz="950" b="1">
                <a:solidFill>
                  <a:srgbClr val="1E293B"/>
                </a:solidFill>
                <a:latin typeface="Segoe UI"/>
              </a:defRPr>
            </a:pPr>
            <a:r>
              <a:t>Build Tool &amp; Server</a:t>
            </a:r>
          </a:p>
          <a:p>
            <a:pPr>
              <a:defRPr sz="900">
                <a:solidFill>
                  <a:srgbClr val="475569"/>
                </a:solidFill>
                <a:latin typeface="Segoe UI"/>
              </a:defRPr>
            </a:pPr>
            <a:r>
              <a:t>Vite 5.2.0 (Port 3000, Proxy /api)</a:t>
            </a:r>
          </a:p>
          <a:p>
            <a:pPr>
              <a:spcBef>
                <a:spcPts val="800"/>
              </a:spcBef>
              <a:defRPr sz="950" b="1">
                <a:solidFill>
                  <a:srgbClr val="1E293B"/>
                </a:solidFill>
                <a:latin typeface="Segoe UI"/>
              </a:defRPr>
            </a:pPr>
            <a:r>
              <a:t>Styling &amp; Animation</a:t>
            </a:r>
          </a:p>
          <a:p>
            <a:pPr>
              <a:defRPr sz="900">
                <a:solidFill>
                  <a:srgbClr val="475569"/>
                </a:solidFill>
                <a:latin typeface="Segoe UI"/>
              </a:defRPr>
            </a:pPr>
            <a:r>
              <a:t>TailwindCSS 3.4.3 • Framer Motion 11.1</a:t>
            </a:r>
          </a:p>
          <a:p>
            <a:pPr>
              <a:spcBef>
                <a:spcPts val="800"/>
              </a:spcBef>
              <a:defRPr sz="950" b="1">
                <a:solidFill>
                  <a:srgbClr val="1E293B"/>
                </a:solidFill>
                <a:latin typeface="Segoe UI"/>
              </a:defRPr>
            </a:pPr>
            <a:r>
              <a:t>State &amp; Data Fetching</a:t>
            </a:r>
          </a:p>
          <a:p>
            <a:pPr>
              <a:defRPr sz="900">
                <a:solidFill>
                  <a:srgbClr val="475569"/>
                </a:solidFill>
                <a:latin typeface="Segoe UI"/>
              </a:defRPr>
            </a:pPr>
            <a:r>
              <a:t>TanStack React Query 5.29.2</a:t>
            </a:r>
          </a:p>
          <a:p>
            <a:pPr>
              <a:spcBef>
                <a:spcPts val="800"/>
              </a:spcBef>
              <a:defRPr sz="950" b="1">
                <a:solidFill>
                  <a:srgbClr val="1E293B"/>
                </a:solidFill>
                <a:latin typeface="Segoe UI"/>
              </a:defRPr>
            </a:pPr>
            <a:r>
              <a:t>GIS &amp; Mapping</a:t>
            </a:r>
          </a:p>
          <a:p>
            <a:pPr>
              <a:defRPr sz="900">
                <a:solidFill>
                  <a:srgbClr val="475569"/>
                </a:solidFill>
                <a:latin typeface="Segoe UI"/>
              </a:defRPr>
            </a:pPr>
            <a:r>
              <a:t>Leaflet 1.9.4 • React-Leaflet 4.2.1</a:t>
            </a:r>
          </a:p>
        </p:txBody>
      </p:sp>
      <p:sp>
        <p:nvSpPr>
          <p:cNvPr id="7" name="Rounded Rectangle 6"/>
          <p:cNvSpPr/>
          <p:nvPr/>
        </p:nvSpPr>
        <p:spPr>
          <a:xfrm>
            <a:off x="3456432" y="1691640"/>
            <a:ext cx="2542032" cy="4297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29584" y="1764792"/>
            <a:ext cx="2395728" cy="5029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Backend &amp; REST API</a:t>
            </a:r>
          </a:p>
        </p:txBody>
      </p:sp>
      <p:sp>
        <p:nvSpPr>
          <p:cNvPr id="9" name="TextBox 8"/>
          <p:cNvSpPr txBox="1"/>
          <p:nvPr/>
        </p:nvSpPr>
        <p:spPr>
          <a:xfrm>
            <a:off x="3593592" y="2350008"/>
            <a:ext cx="2267712" cy="3566160"/>
          </a:xfrm>
          <a:prstGeom prst="rect">
            <a:avLst/>
          </a:prstGeom>
          <a:noFill/>
        </p:spPr>
        <p:txBody>
          <a:bodyPr wrap="square">
            <a:spAutoFit/>
          </a:bodyPr>
          <a:lstStyle/>
          <a:p>
            <a:pPr>
              <a:defRPr sz="950" b="1">
                <a:solidFill>
                  <a:srgbClr val="1E293B"/>
                </a:solidFill>
                <a:latin typeface="Segoe UI"/>
              </a:defRPr>
            </a:pPr>
            <a:r>
              <a:t>Runtime &amp; Engine</a:t>
            </a:r>
          </a:p>
          <a:p>
            <a:pPr>
              <a:defRPr sz="900">
                <a:solidFill>
                  <a:srgbClr val="475569"/>
                </a:solidFill>
                <a:latin typeface="Segoe UI"/>
              </a:defRPr>
            </a:pPr>
            <a:r>
              <a:t>Node.js • Express 4.19.2 (Port 5000)</a:t>
            </a:r>
          </a:p>
          <a:p>
            <a:pPr>
              <a:spcBef>
                <a:spcPts val="800"/>
              </a:spcBef>
              <a:defRPr sz="950" b="1">
                <a:solidFill>
                  <a:srgbClr val="1E293B"/>
                </a:solidFill>
                <a:latin typeface="Segoe UI"/>
              </a:defRPr>
            </a:pPr>
            <a:r>
              <a:t>Language &amp; Watcher</a:t>
            </a:r>
          </a:p>
          <a:p>
            <a:pPr>
              <a:defRPr sz="900">
                <a:solidFill>
                  <a:srgbClr val="475569"/>
                </a:solidFill>
                <a:latin typeface="Segoe UI"/>
              </a:defRPr>
            </a:pPr>
            <a:r>
              <a:t>TypeScript 5.4.5 • tsx / ts-node</a:t>
            </a:r>
          </a:p>
          <a:p>
            <a:pPr>
              <a:spcBef>
                <a:spcPts val="800"/>
              </a:spcBef>
              <a:defRPr sz="950" b="1">
                <a:solidFill>
                  <a:srgbClr val="1E293B"/>
                </a:solidFill>
                <a:latin typeface="Segoe UI"/>
              </a:defRPr>
            </a:pPr>
            <a:r>
              <a:t>API Security</a:t>
            </a:r>
          </a:p>
          <a:p>
            <a:pPr>
              <a:defRPr sz="900">
                <a:solidFill>
                  <a:srgbClr val="475569"/>
                </a:solidFill>
                <a:latin typeface="Segoe UI"/>
              </a:defRPr>
            </a:pPr>
            <a:r>
              <a:t>Helmet 7.1.0 • CORS 2.8.5</a:t>
            </a:r>
          </a:p>
          <a:p>
            <a:pPr>
              <a:spcBef>
                <a:spcPts val="800"/>
              </a:spcBef>
              <a:defRPr sz="950" b="1">
                <a:solidFill>
                  <a:srgbClr val="1E293B"/>
                </a:solidFill>
                <a:latin typeface="Segoe UI"/>
              </a:defRPr>
            </a:pPr>
            <a:r>
              <a:t>Rate Limiting</a:t>
            </a:r>
          </a:p>
          <a:p>
            <a:pPr>
              <a:defRPr sz="900">
                <a:solidFill>
                  <a:srgbClr val="475569"/>
                </a:solidFill>
                <a:latin typeface="Segoe UI"/>
              </a:defRPr>
            </a:pPr>
            <a:r>
              <a:t>express-rate-limit (200 req / 15 min)</a:t>
            </a:r>
          </a:p>
          <a:p>
            <a:pPr>
              <a:spcBef>
                <a:spcPts val="800"/>
              </a:spcBef>
              <a:defRPr sz="950" b="1">
                <a:solidFill>
                  <a:srgbClr val="1E293B"/>
                </a:solidFill>
                <a:latin typeface="Segoe UI"/>
              </a:defRPr>
            </a:pPr>
            <a:r>
              <a:t>Session Auth</a:t>
            </a:r>
          </a:p>
          <a:p>
            <a:pPr>
              <a:defRPr sz="900">
                <a:solidFill>
                  <a:srgbClr val="475569"/>
                </a:solidFill>
                <a:latin typeface="Segoe UI"/>
              </a:defRPr>
            </a:pPr>
            <a:r>
              <a:t>jsonwebtoken 9.0.2 • bcryptjs 2.4.3</a:t>
            </a:r>
          </a:p>
        </p:txBody>
      </p:sp>
      <p:sp>
        <p:nvSpPr>
          <p:cNvPr id="10" name="Rounded Rectangle 9"/>
          <p:cNvSpPr/>
          <p:nvPr/>
        </p:nvSpPr>
        <p:spPr>
          <a:xfrm>
            <a:off x="6181344" y="1691640"/>
            <a:ext cx="2542032" cy="4297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764792"/>
            <a:ext cx="2395728" cy="50292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Database &amp; Persistence</a:t>
            </a:r>
          </a:p>
        </p:txBody>
      </p:sp>
      <p:sp>
        <p:nvSpPr>
          <p:cNvPr id="12" name="TextBox 11"/>
          <p:cNvSpPr txBox="1"/>
          <p:nvPr/>
        </p:nvSpPr>
        <p:spPr>
          <a:xfrm>
            <a:off x="6318504" y="2350008"/>
            <a:ext cx="2267712" cy="3566160"/>
          </a:xfrm>
          <a:prstGeom prst="rect">
            <a:avLst/>
          </a:prstGeom>
          <a:noFill/>
        </p:spPr>
        <p:txBody>
          <a:bodyPr wrap="square">
            <a:spAutoFit/>
          </a:bodyPr>
          <a:lstStyle/>
          <a:p>
            <a:pPr>
              <a:defRPr sz="950" b="1">
                <a:solidFill>
                  <a:srgbClr val="1E293B"/>
                </a:solidFill>
                <a:latin typeface="Segoe UI"/>
              </a:defRPr>
            </a:pPr>
            <a:r>
              <a:t>Relational Database</a:t>
            </a:r>
          </a:p>
          <a:p>
            <a:pPr>
              <a:defRPr sz="900">
                <a:solidFill>
                  <a:srgbClr val="475569"/>
                </a:solidFill>
                <a:latin typeface="Segoe UI"/>
              </a:defRPr>
            </a:pPr>
            <a:r>
              <a:t>PostgreSQL (Prisma ORM 5.12.1)</a:t>
            </a:r>
          </a:p>
          <a:p>
            <a:pPr>
              <a:spcBef>
                <a:spcPts val="800"/>
              </a:spcBef>
              <a:defRPr sz="950" b="1">
                <a:solidFill>
                  <a:srgbClr val="1E293B"/>
                </a:solidFill>
                <a:latin typeface="Segoe UI"/>
              </a:defRPr>
            </a:pPr>
            <a:r>
              <a:t>Real-Time NoSQL</a:t>
            </a:r>
          </a:p>
          <a:p>
            <a:pPr>
              <a:defRPr sz="900">
                <a:solidFill>
                  <a:srgbClr val="475569"/>
                </a:solidFill>
                <a:latin typeface="Segoe UI"/>
              </a:defRPr>
            </a:pPr>
            <a:r>
              <a:t>Cloud Firestore (Multi-tab IndexedDB cache)</a:t>
            </a:r>
          </a:p>
          <a:p>
            <a:pPr>
              <a:spcBef>
                <a:spcPts val="800"/>
              </a:spcBef>
              <a:defRPr sz="950" b="1">
                <a:solidFill>
                  <a:srgbClr val="1E293B"/>
                </a:solidFill>
                <a:latin typeface="Segoe UI"/>
              </a:defRPr>
            </a:pPr>
            <a:r>
              <a:t>Offline Storage</a:t>
            </a:r>
          </a:p>
          <a:p>
            <a:pPr>
              <a:defRPr sz="900">
                <a:solidFill>
                  <a:srgbClr val="475569"/>
                </a:solidFill>
                <a:latin typeface="Segoe UI"/>
              </a:defRPr>
            </a:pPr>
            <a:r>
              <a:t>IndexedDB v1 (MahaResilienceCache)</a:t>
            </a:r>
          </a:p>
          <a:p>
            <a:pPr>
              <a:spcBef>
                <a:spcPts val="800"/>
              </a:spcBef>
              <a:defRPr sz="950" b="1">
                <a:solidFill>
                  <a:srgbClr val="1E293B"/>
                </a:solidFill>
                <a:latin typeface="Segoe UI"/>
              </a:defRPr>
            </a:pPr>
            <a:r>
              <a:t>File &amp; Asset Store</a:t>
            </a:r>
          </a:p>
          <a:p>
            <a:pPr>
              <a:defRPr sz="900">
                <a:solidFill>
                  <a:srgbClr val="475569"/>
                </a:solidFill>
                <a:latin typeface="Segoe UI"/>
              </a:defRPr>
            </a:pPr>
            <a:r>
              <a:t>Cloudinary REST • Firebase Storage</a:t>
            </a:r>
          </a:p>
          <a:p>
            <a:pPr>
              <a:spcBef>
                <a:spcPts val="800"/>
              </a:spcBef>
              <a:defRPr sz="950" b="1">
                <a:solidFill>
                  <a:srgbClr val="1E293B"/>
                </a:solidFill>
                <a:latin typeface="Segoe UI"/>
              </a:defRPr>
            </a:pPr>
            <a:r>
              <a:t>Feed Ingestion</a:t>
            </a:r>
          </a:p>
          <a:p>
            <a:pPr>
              <a:defRPr sz="900">
                <a:solidFill>
                  <a:srgbClr val="475569"/>
                </a:solidFill>
                <a:latin typeface="Segoe UI"/>
              </a:defRPr>
            </a:pPr>
            <a:r>
              <a:t>rss-parser 3.13.0 (GDACS RSS)</a:t>
            </a:r>
          </a:p>
        </p:txBody>
      </p:sp>
      <p:sp>
        <p:nvSpPr>
          <p:cNvPr id="13" name="Rounded Rectangle 12"/>
          <p:cNvSpPr/>
          <p:nvPr/>
        </p:nvSpPr>
        <p:spPr>
          <a:xfrm>
            <a:off x="8906256" y="1691640"/>
            <a:ext cx="2542032" cy="4297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79408" y="1764792"/>
            <a:ext cx="2395728" cy="502920"/>
          </a:xfrm>
          <a:prstGeom prst="roundRect">
            <a:avLst/>
          </a:prstGeom>
          <a:solidFill>
            <a:srgbClr val="881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Gateways &amp; Cloud Services</a:t>
            </a:r>
          </a:p>
        </p:txBody>
      </p:sp>
      <p:sp>
        <p:nvSpPr>
          <p:cNvPr id="15" name="TextBox 14"/>
          <p:cNvSpPr txBox="1"/>
          <p:nvPr/>
        </p:nvSpPr>
        <p:spPr>
          <a:xfrm>
            <a:off x="9043416" y="2350008"/>
            <a:ext cx="2267712" cy="3566160"/>
          </a:xfrm>
          <a:prstGeom prst="rect">
            <a:avLst/>
          </a:prstGeom>
          <a:noFill/>
        </p:spPr>
        <p:txBody>
          <a:bodyPr wrap="square">
            <a:spAutoFit/>
          </a:bodyPr>
          <a:lstStyle/>
          <a:p>
            <a:pPr>
              <a:defRPr sz="950" b="1">
                <a:solidFill>
                  <a:srgbClr val="1E293B"/>
                </a:solidFill>
                <a:latin typeface="Segoe UI"/>
              </a:defRPr>
            </a:pPr>
            <a:r>
              <a:t>AI &amp; LLM Services</a:t>
            </a:r>
          </a:p>
          <a:p>
            <a:pPr>
              <a:defRPr sz="900">
                <a:solidFill>
                  <a:srgbClr val="475569"/>
                </a:solidFill>
                <a:latin typeface="Segoe UI"/>
              </a:defRPr>
            </a:pPr>
            <a:r>
              <a:t>Google Gemini 1.5/2.0 Flash • Genkit 1.41</a:t>
            </a:r>
          </a:p>
          <a:p>
            <a:pPr>
              <a:spcBef>
                <a:spcPts val="800"/>
              </a:spcBef>
              <a:defRPr sz="950" b="1">
                <a:solidFill>
                  <a:srgbClr val="1E293B"/>
                </a:solidFill>
                <a:latin typeface="Segoe UI"/>
              </a:defRPr>
            </a:pPr>
            <a:r>
              <a:t>SMS &amp; 2FA Gateway</a:t>
            </a:r>
          </a:p>
          <a:p>
            <a:pPr>
              <a:defRPr sz="900">
                <a:solidFill>
                  <a:srgbClr val="475569"/>
                </a:solidFill>
                <a:latin typeface="Segoe UI"/>
              </a:defRPr>
            </a:pPr>
            <a:r>
              <a:t>Twilio SDK 6.0.2 • Fast2SMS Fallback</a:t>
            </a:r>
          </a:p>
          <a:p>
            <a:pPr>
              <a:spcBef>
                <a:spcPts val="800"/>
              </a:spcBef>
              <a:defRPr sz="950" b="1">
                <a:solidFill>
                  <a:srgbClr val="1E293B"/>
                </a:solidFill>
                <a:latin typeface="Segoe UI"/>
              </a:defRPr>
            </a:pPr>
            <a:r>
              <a:t>Transactional Email</a:t>
            </a:r>
          </a:p>
          <a:p>
            <a:pPr>
              <a:defRPr sz="900">
                <a:solidFill>
                  <a:srgbClr val="475569"/>
                </a:solidFill>
                <a:latin typeface="Segoe UI"/>
              </a:defRPr>
            </a:pPr>
            <a:r>
              <a:t>Brevo REST API v3 (HTML SOS &amp; Receipts)</a:t>
            </a:r>
          </a:p>
          <a:p>
            <a:pPr>
              <a:spcBef>
                <a:spcPts val="800"/>
              </a:spcBef>
              <a:defRPr sz="950" b="1">
                <a:solidFill>
                  <a:srgbClr val="1E293B"/>
                </a:solidFill>
                <a:latin typeface="Segoe UI"/>
              </a:defRPr>
            </a:pPr>
            <a:r>
              <a:t>Spatial Routing</a:t>
            </a:r>
          </a:p>
          <a:p>
            <a:pPr>
              <a:defRPr sz="900">
                <a:solidFill>
                  <a:srgbClr val="475569"/>
                </a:solidFill>
                <a:latin typeface="Segoe UI"/>
              </a:defRPr>
            </a:pPr>
            <a:r>
              <a:t>OSRM Turn-by-Turn • OSM Nominatim</a:t>
            </a:r>
          </a:p>
          <a:p>
            <a:pPr>
              <a:spcBef>
                <a:spcPts val="800"/>
              </a:spcBef>
              <a:defRPr sz="950" b="1">
                <a:solidFill>
                  <a:srgbClr val="1E293B"/>
                </a:solidFill>
                <a:latin typeface="Segoe UI"/>
              </a:defRPr>
            </a:pPr>
            <a:r>
              <a:t>Hosting Infrastructure</a:t>
            </a:r>
          </a:p>
          <a:p>
            <a:pPr>
              <a:defRPr sz="900">
                <a:solidFill>
                  <a:srgbClr val="475569"/>
                </a:solidFill>
                <a:latin typeface="Segoe UI"/>
              </a:defRPr>
            </a:pPr>
            <a:r>
              <a:t>Firebase Hosting • Render Web Service</a:t>
            </a:r>
          </a:p>
        </p:txBody>
      </p:sp>
      <p:sp>
        <p:nvSpPr>
          <p:cNvPr id="16" name="TextBox 15"/>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3 of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SYSTEM DESIGN &amp; FLOW PIPELINES</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FFFFFF"/>
                </a:solidFill>
                <a:latin typeface="Segoe UI"/>
              </a:defRPr>
            </a:pPr>
            <a:r>
              <a:t>System Architecture &amp; Dual-Database Flow</a:t>
            </a:r>
          </a:p>
          <a:p>
            <a:pPr>
              <a:spcBef>
                <a:spcPts val="300"/>
              </a:spcBef>
              <a:defRPr sz="1200">
                <a:solidFill>
                  <a:srgbClr val="C7D2FE"/>
                </a:solidFill>
                <a:latin typeface="Segoe UI"/>
              </a:defRPr>
            </a:pPr>
            <a:r>
              <a:t>End-to-end request routing, reactive websocket streaming, and offline persistence pipelines</a:t>
            </a:r>
          </a:p>
        </p:txBody>
      </p:sp>
      <p:sp>
        <p:nvSpPr>
          <p:cNvPr id="4" name="Rounded Rectangle 3"/>
          <p:cNvSpPr/>
          <p:nvPr/>
        </p:nvSpPr>
        <p:spPr>
          <a:xfrm>
            <a:off x="731520" y="1691640"/>
            <a:ext cx="329184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A5B4FC"/>
                </a:solidFill>
                <a:latin typeface="Segoe UI"/>
              </a:defRPr>
            </a:pPr>
            <a:r>
              <a:t>🖥️ Client Layer (React 18 SPA)</a:t>
            </a:r>
          </a:p>
          <a:p>
            <a:pPr>
              <a:spcBef>
                <a:spcPts val="800"/>
              </a:spcBef>
              <a:defRPr sz="1000" b="1">
                <a:solidFill>
                  <a:srgbClr val="E0E7FF"/>
                </a:solidFill>
                <a:latin typeface="Segoe UI"/>
              </a:defRPr>
            </a:pPr>
            <a:r>
              <a:t>• Context State Management</a:t>
            </a:r>
          </a:p>
          <a:p>
            <a:pPr>
              <a:defRPr sz="850">
                <a:solidFill>
                  <a:srgbClr val="94A3B8"/>
                </a:solidFill>
                <a:latin typeface="Segoe UI"/>
              </a:defRPr>
            </a:pPr>
            <a:r>
              <a:t>LocationContext (GPS + Nominatim)</a:t>
            </a:r>
            <a:br/>
            <a:r>
              <a:t>AlertContext (Geofence evaluator)</a:t>
            </a:r>
            <a:br/>
            <a:r>
              <a:t>EmergencyModeContext (Global banner)</a:t>
            </a:r>
            <a:br/>
            <a:r>
              <a:t>AuthContext (Session &amp; role claims)</a:t>
            </a:r>
          </a:p>
          <a:p>
            <a:pPr>
              <a:spcBef>
                <a:spcPts val="800"/>
              </a:spcBef>
              <a:defRPr sz="1000" b="1">
                <a:solidFill>
                  <a:srgbClr val="E0E7FF"/>
                </a:solidFill>
                <a:latin typeface="Segoe UI"/>
              </a:defRPr>
            </a:pPr>
            <a:r>
              <a:t>• Browser Audio &amp; Speech APIs</a:t>
            </a:r>
          </a:p>
          <a:p>
            <a:pPr>
              <a:defRPr sz="850">
                <a:solidFill>
                  <a:srgbClr val="94A3B8"/>
                </a:solidFill>
                <a:latin typeface="Segoe UI"/>
              </a:defRPr>
            </a:pPr>
            <a:r>
              <a:t>Web Audio API: 600-1200 Hz Siren</a:t>
            </a:r>
            <a:br/>
            <a:r>
              <a:t>Web Speech API: Voice recognition &amp; TTS</a:t>
            </a:r>
          </a:p>
          <a:p>
            <a:pPr>
              <a:spcBef>
                <a:spcPts val="800"/>
              </a:spcBef>
              <a:defRPr sz="1000" b="1">
                <a:solidFill>
                  <a:srgbClr val="E0E7FF"/>
                </a:solidFill>
                <a:latin typeface="Segoe UI"/>
              </a:defRPr>
            </a:pPr>
            <a:r>
              <a:t>• Offline Persistence Engines</a:t>
            </a:r>
          </a:p>
          <a:p>
            <a:pPr>
              <a:defRPr sz="850">
                <a:solidFill>
                  <a:srgbClr val="94A3B8"/>
                </a:solidFill>
                <a:latin typeface="Segoe UI"/>
              </a:defRPr>
            </a:pPr>
            <a:r>
              <a:t>Firestore IndexedDB multi-tab cache</a:t>
            </a:r>
            <a:br/>
            <a:r>
              <a:t>Native IndexedDB: MahaResilienceCache v1</a:t>
            </a:r>
            <a:br/>
            <a:r>
              <a:t>LocalStorage: Offline location &amp; auth tokens</a:t>
            </a:r>
          </a:p>
          <a:p>
            <a:pPr>
              <a:spcBef>
                <a:spcPts val="800"/>
              </a:spcBef>
              <a:defRPr sz="1000" b="1">
                <a:solidFill>
                  <a:srgbClr val="E0E7FF"/>
                </a:solidFill>
                <a:latin typeface="Segoe UI"/>
              </a:defRPr>
            </a:pPr>
            <a:r>
              <a:t>• Direct Resilient Fallbacks</a:t>
            </a:r>
          </a:p>
          <a:p>
            <a:pPr>
              <a:defRPr sz="850">
                <a:solidFill>
                  <a:srgbClr val="94A3B8"/>
                </a:solidFill>
                <a:latin typeface="Segoe UI"/>
              </a:defRPr>
            </a:pPr>
            <a:r>
              <a:t>Direct Brevo API (Guarantees SOS email)</a:t>
            </a:r>
            <a:br/>
            <a:r>
              <a:t>Direct Gemini REST (AI citizen advice)</a:t>
            </a:r>
            <a:br/>
            <a:r>
              <a:t>Direct Cloudinary (Photo evidence upload)</a:t>
            </a:r>
          </a:p>
        </p:txBody>
      </p:sp>
      <p:sp>
        <p:nvSpPr>
          <p:cNvPr id="5" name="Rounded Rectangle 4"/>
          <p:cNvSpPr/>
          <p:nvPr/>
        </p:nvSpPr>
        <p:spPr>
          <a:xfrm>
            <a:off x="4389120" y="1691640"/>
            <a:ext cx="3383280" cy="429768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D8B4FE"/>
                </a:solidFill>
                <a:latin typeface="Segoe UI"/>
              </a:defRPr>
            </a:pPr>
            <a:r>
              <a:t>⚡ Dual Channel Routing</a:t>
            </a:r>
          </a:p>
          <a:p>
            <a:pPr>
              <a:spcBef>
                <a:spcPts val="1000"/>
              </a:spcBef>
              <a:defRPr sz="1000" b="1">
                <a:solidFill>
                  <a:srgbClr val="F3E8FF"/>
                </a:solidFill>
                <a:latin typeface="Segoe UI"/>
              </a:defRPr>
            </a:pPr>
            <a:r>
              <a:t>• Channel 1: Reactive NoSQL Stream</a:t>
            </a:r>
          </a:p>
          <a:p>
            <a:pPr>
              <a:defRPr sz="850">
                <a:solidFill>
                  <a:srgbClr val="94A3B8"/>
                </a:solidFill>
                <a:latin typeface="Segoe UI"/>
              </a:defRPr>
            </a:pPr>
            <a:r>
              <a:t>Frontend directly listens to Cloud Firestore via onSnapshot listeners:</a:t>
            </a:r>
            <a:br/>
            <a:r>
              <a:t>- Live community discussions &amp; likes</a:t>
            </a:r>
            <a:br/>
            <a:r>
              <a:t>- 10-module public facility tickets</a:t>
            </a:r>
            <a:br/>
            <a:r>
              <a:t>- Real-time emergency mode toggle</a:t>
            </a:r>
            <a:br/>
            <a:r>
              <a:t>- Instant alert broadcasts</a:t>
            </a:r>
          </a:p>
          <a:p>
            <a:pPr>
              <a:spcBef>
                <a:spcPts val="1000"/>
              </a:spcBef>
              <a:defRPr sz="1000" b="1">
                <a:solidFill>
                  <a:srgbClr val="F3E8FF"/>
                </a:solidFill>
                <a:latin typeface="Segoe UI"/>
              </a:defRPr>
            </a:pPr>
            <a:r>
              <a:t>• Channel 2: Express REST API</a:t>
            </a:r>
          </a:p>
          <a:p>
            <a:pPr>
              <a:defRPr sz="850">
                <a:solidFill>
                  <a:srgbClr val="94A3B8"/>
                </a:solidFill>
                <a:latin typeface="Segoe UI"/>
              </a:defRPr>
            </a:pPr>
            <a:r>
              <a:t>Frontend calls https://maharesilience.onrender.com/api:</a:t>
            </a:r>
            <a:br/>
            <a:r>
              <a:t>- /api/auth (bcrypt + JWT issuance)</a:t>
            </a:r>
            <a:br/>
            <a:r>
              <a:t>- /api/sms/sos (Twilio + Fast2SMS)</a:t>
            </a:r>
            <a:br/>
            <a:r>
              <a:t>- /api/bills (MSEDCL tariff calculator)</a:t>
            </a:r>
            <a:br/>
            <a:r>
              <a:t>- /api/complaints (Priority scoring)</a:t>
            </a:r>
            <a:br/>
            <a:r>
              <a:t>- /api/admin (13 module command panels)</a:t>
            </a:r>
          </a:p>
        </p:txBody>
      </p:sp>
      <p:sp>
        <p:nvSpPr>
          <p:cNvPr id="6" name="Rounded Rectangle 5"/>
          <p:cNvSpPr/>
          <p:nvPr/>
        </p:nvSpPr>
        <p:spPr>
          <a:xfrm>
            <a:off x="8138160" y="1691640"/>
            <a:ext cx="329184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300" b="1">
                <a:solidFill>
                  <a:srgbClr val="7DD3FC"/>
                </a:solidFill>
                <a:latin typeface="Segoe UI"/>
              </a:defRPr>
            </a:pPr>
            <a:r>
              <a:t>🏛️ Databases &amp; Gateways</a:t>
            </a:r>
          </a:p>
          <a:p>
            <a:pPr>
              <a:spcBef>
                <a:spcPts val="800"/>
              </a:spcBef>
              <a:defRPr sz="1000" b="1">
                <a:solidFill>
                  <a:srgbClr val="E0F2FE"/>
                </a:solidFill>
                <a:latin typeface="Segoe UI"/>
              </a:defRPr>
            </a:pPr>
            <a:r>
              <a:t>• Cloud Firestore (NoSQL)</a:t>
            </a:r>
          </a:p>
          <a:p>
            <a:pPr>
              <a:defRPr sz="850">
                <a:solidFill>
                  <a:srgbClr val="94A3B8"/>
                </a:solidFill>
                <a:latin typeface="Segoe UI"/>
              </a:defRPr>
            </a:pPr>
            <a:r>
              <a:t>users, alerts, complaints, communityPosts, comments, publicFacilityTickets, sosEvents, systemSettings, auditLogs</a:t>
            </a:r>
          </a:p>
          <a:p>
            <a:pPr>
              <a:spcBef>
                <a:spcPts val="800"/>
              </a:spcBef>
              <a:defRPr sz="1000" b="1">
                <a:solidFill>
                  <a:srgbClr val="E0F2FE"/>
                </a:solidFill>
                <a:latin typeface="Segoe UI"/>
              </a:defRPr>
            </a:pPr>
            <a:r>
              <a:t>• PostgreSQL (Prisma ORM)</a:t>
            </a:r>
          </a:p>
          <a:p>
            <a:pPr>
              <a:defRPr sz="850">
                <a:solidFill>
                  <a:srgbClr val="94A3B8"/>
                </a:solidFill>
                <a:latin typeface="Segoe UI"/>
              </a:defRPr>
            </a:pPr>
            <a:r>
              <a:t>Relational storage for Users, Volunteers, Complaints, Shelters, Hospitals, Transport, Schemes</a:t>
            </a:r>
          </a:p>
          <a:p>
            <a:pPr>
              <a:spcBef>
                <a:spcPts val="800"/>
              </a:spcBef>
              <a:defRPr sz="1000" b="1">
                <a:solidFill>
                  <a:srgbClr val="E0F2FE"/>
                </a:solidFill>
                <a:latin typeface="Segoe UI"/>
              </a:defRPr>
            </a:pPr>
            <a:r>
              <a:t>• Twilio &amp; Fast2SMS Gateway</a:t>
            </a:r>
          </a:p>
          <a:p>
            <a:pPr>
              <a:defRPr sz="850">
                <a:solidFill>
                  <a:srgbClr val="94A3B8"/>
                </a:solidFill>
                <a:latin typeface="Segoe UI"/>
              </a:defRPr>
            </a:pPr>
            <a:r>
              <a:t>Dispatches E.164 emergency SMS and 2FA verification codes to registered contacts</a:t>
            </a:r>
          </a:p>
          <a:p>
            <a:pPr>
              <a:spcBef>
                <a:spcPts val="800"/>
              </a:spcBef>
              <a:defRPr sz="1000" b="1">
                <a:solidFill>
                  <a:srgbClr val="E0F2FE"/>
                </a:solidFill>
                <a:latin typeface="Segoe UI"/>
              </a:defRPr>
            </a:pPr>
            <a:r>
              <a:t>• Brevo REST API v3</a:t>
            </a:r>
          </a:p>
          <a:p>
            <a:pPr>
              <a:defRPr sz="850">
                <a:solidFill>
                  <a:srgbClr val="94A3B8"/>
                </a:solidFill>
                <a:latin typeface="Segoe UI"/>
              </a:defRPr>
            </a:pPr>
            <a:r>
              <a:t>Dispatches responsive HTML SOS alerts with Google Maps GPS link &amp; tax invoice statements</a:t>
            </a:r>
          </a:p>
        </p:txBody>
      </p:sp>
      <p:sp>
        <p:nvSpPr>
          <p:cNvPr id="7" name="TextBox 6"/>
          <p:cNvSpPr txBox="1"/>
          <p:nvPr/>
        </p:nvSpPr>
        <p:spPr>
          <a:xfrm>
            <a:off x="731520" y="6355080"/>
            <a:ext cx="10698480" cy="320040"/>
          </a:xfrm>
          <a:prstGeom prst="rect">
            <a:avLst/>
          </a:prstGeom>
          <a:noFill/>
        </p:spPr>
        <p:txBody>
          <a:bodyPr wrap="square" lIns="0" tIns="0" rIns="0" bIns="0">
            <a:spAutoFit/>
          </a:bodyPr>
          <a:lstStyle/>
          <a:p>
            <a:pPr>
              <a:defRPr sz="900">
                <a:solidFill>
                  <a:srgbClr val="94A3B8"/>
                </a:solidFill>
                <a:latin typeface="Segoe UI"/>
              </a:defRPr>
            </a:pPr>
            <a:r>
              <a:t>MahaResilience (Smart Community Hub)  |  Presenter: Sanskar Dhat  |  Portal: mahareilience.web.app</a:t>
            </a:r>
          </a:p>
          <a:p>
            <a:pPr algn="r">
              <a:defRPr sz="900" b="1">
                <a:solidFill>
                  <a:srgbClr val="94A3B8"/>
                </a:solidFill>
                <a:latin typeface="Segoe UI"/>
              </a:defRPr>
            </a:pPr>
            <a:r>
              <a:t>Slide 4 of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CITIZEN WORKFLOW &amp; CIVIC RESOLUTION</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Citizen Services &amp; Public Grievance Desk</a:t>
            </a:r>
          </a:p>
          <a:p>
            <a:pPr>
              <a:spcBef>
                <a:spcPts val="300"/>
              </a:spcBef>
              <a:defRPr sz="1200">
                <a:solidFill>
                  <a:srgbClr val="475569"/>
                </a:solidFill>
                <a:latin typeface="Segoe UI"/>
              </a:defRPr>
            </a:pPr>
            <a:r>
              <a:t>Automated grievance redressal workflow, priority scoring algorithm &amp; community engagement</a:t>
            </a:r>
          </a:p>
        </p:txBody>
      </p:sp>
      <p:sp>
        <p:nvSpPr>
          <p:cNvPr id="4" name="Rounded Rectangle 3"/>
          <p:cNvSpPr/>
          <p:nvPr/>
        </p:nvSpPr>
        <p:spPr>
          <a:xfrm>
            <a:off x="731520" y="1691640"/>
            <a:ext cx="2039112" cy="12801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defRPr sz="1050" b="1">
                <a:solidFill>
                  <a:srgbClr val="0F766E"/>
                </a:solidFill>
                <a:latin typeface="Segoe UI"/>
              </a:defRPr>
            </a:pPr>
            <a:r>
              <a:t>Step 1: Report</a:t>
            </a:r>
          </a:p>
          <a:p>
            <a:pPr>
              <a:spcBef>
                <a:spcPts val="300"/>
              </a:spcBef>
              <a:defRPr sz="850">
                <a:solidFill>
                  <a:srgbClr val="334155"/>
                </a:solidFill>
                <a:latin typeface="Segoe UI"/>
              </a:defRPr>
            </a:pPr>
            <a:r>
              <a:t>Citizen captures issue, attaches photo via Cloudinary, auto-fetches GPS coordinates.</a:t>
            </a:r>
          </a:p>
        </p:txBody>
      </p:sp>
      <p:sp>
        <p:nvSpPr>
          <p:cNvPr id="5" name="Rounded Rectangle 4"/>
          <p:cNvSpPr/>
          <p:nvPr/>
        </p:nvSpPr>
        <p:spPr>
          <a:xfrm>
            <a:off x="2907791" y="1691640"/>
            <a:ext cx="2039112" cy="12801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defRPr sz="1050" b="1">
                <a:solidFill>
                  <a:srgbClr val="0F766E"/>
                </a:solidFill>
                <a:latin typeface="Segoe UI"/>
              </a:defRPr>
            </a:pPr>
            <a:r>
              <a:t>Step 2: Upvote</a:t>
            </a:r>
          </a:p>
          <a:p>
            <a:pPr>
              <a:spcBef>
                <a:spcPts val="300"/>
              </a:spcBef>
              <a:defRPr sz="850">
                <a:solidFill>
                  <a:srgbClr val="334155"/>
                </a:solidFill>
                <a:latin typeface="Segoe UI"/>
              </a:defRPr>
            </a:pPr>
            <a:r>
              <a:t>Community upvotes grievances; upvotes directly increase ticket priority score.</a:t>
            </a:r>
          </a:p>
        </p:txBody>
      </p:sp>
      <p:sp>
        <p:nvSpPr>
          <p:cNvPr id="6" name="Rounded Rectangle 5"/>
          <p:cNvSpPr/>
          <p:nvPr/>
        </p:nvSpPr>
        <p:spPr>
          <a:xfrm>
            <a:off x="5084064" y="1691640"/>
            <a:ext cx="2039112" cy="12801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defRPr sz="1050" b="1">
                <a:solidFill>
                  <a:srgbClr val="0F766E"/>
                </a:solidFill>
                <a:latin typeface="Segoe UI"/>
              </a:defRPr>
            </a:pPr>
            <a:r>
              <a:t>Step 3: Algorithm</a:t>
            </a:r>
          </a:p>
          <a:p>
            <a:pPr>
              <a:spcBef>
                <a:spcPts val="300"/>
              </a:spcBef>
              <a:defRPr sz="850">
                <a:solidFill>
                  <a:srgbClr val="334155"/>
                </a:solidFill>
                <a:latin typeface="Segoe UI"/>
              </a:defRPr>
            </a:pPr>
            <a:r>
              <a:t>Backend calculates priority using category weight, upvotes &amp; elapsed days.</a:t>
            </a:r>
          </a:p>
        </p:txBody>
      </p:sp>
      <p:sp>
        <p:nvSpPr>
          <p:cNvPr id="7" name="Rounded Rectangle 6"/>
          <p:cNvSpPr/>
          <p:nvPr/>
        </p:nvSpPr>
        <p:spPr>
          <a:xfrm>
            <a:off x="7260336" y="1691640"/>
            <a:ext cx="2039112" cy="12801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defRPr sz="1050" b="1">
                <a:solidFill>
                  <a:srgbClr val="0F766E"/>
                </a:solidFill>
                <a:latin typeface="Segoe UI"/>
              </a:defRPr>
            </a:pPr>
            <a:r>
              <a:t>Step 4: Assign</a:t>
            </a:r>
          </a:p>
          <a:p>
            <a:pPr>
              <a:spcBef>
                <a:spcPts val="300"/>
              </a:spcBef>
              <a:defRPr sz="850">
                <a:solidFill>
                  <a:srgbClr val="334155"/>
                </a:solidFill>
                <a:latin typeface="Segoe UI"/>
              </a:defRPr>
            </a:pPr>
            <a:r>
              <a:t>Department admin assigns field officer; status updates to IN_PROGRESS.</a:t>
            </a:r>
          </a:p>
        </p:txBody>
      </p:sp>
      <p:sp>
        <p:nvSpPr>
          <p:cNvPr id="8" name="Rounded Rectangle 7"/>
          <p:cNvSpPr/>
          <p:nvPr/>
        </p:nvSpPr>
        <p:spPr>
          <a:xfrm>
            <a:off x="9436608" y="1691640"/>
            <a:ext cx="2039112" cy="12801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ctr">
              <a:defRPr sz="1050" b="1">
                <a:solidFill>
                  <a:srgbClr val="0F766E"/>
                </a:solidFill>
                <a:latin typeface="Segoe UI"/>
              </a:defRPr>
            </a:pPr>
            <a:r>
              <a:t>Step 5: Resolve</a:t>
            </a:r>
          </a:p>
          <a:p>
            <a:pPr>
              <a:spcBef>
                <a:spcPts val="300"/>
              </a:spcBef>
              <a:defRPr sz="850">
                <a:solidFill>
                  <a:srgbClr val="334155"/>
                </a:solidFill>
                <a:latin typeface="Segoe UI"/>
              </a:defRPr>
            </a:pPr>
            <a:r>
              <a:t>Official marks RESOLVED with closure remarks and citizen status confirmation.</a:t>
            </a:r>
          </a:p>
        </p:txBody>
      </p:sp>
      <p:sp>
        <p:nvSpPr>
          <p:cNvPr id="9" name="Rounded Rectangle 8"/>
          <p:cNvSpPr/>
          <p:nvPr/>
        </p:nvSpPr>
        <p:spPr>
          <a:xfrm>
            <a:off x="731520" y="3154680"/>
            <a:ext cx="3474720" cy="2971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50" b="1">
                <a:solidFill>
                  <a:srgbClr val="0F766E"/>
                </a:solidFill>
                <a:latin typeface="Segoe UI"/>
              </a:defRPr>
            </a:pPr>
            <a:r>
              <a:t>📊 Dynamic Priority Scoring Formula</a:t>
            </a:r>
          </a:p>
          <a:p>
            <a:pPr>
              <a:spcBef>
                <a:spcPts val="600"/>
              </a:spcBef>
              <a:defRPr sz="900" b="1">
                <a:solidFill>
                  <a:srgbClr val="B45309"/>
                </a:solidFill>
                <a:latin typeface="Consolas"/>
              </a:defRPr>
            </a:pPr>
            <a:r>
              <a:t>Score = (Weight × 10) + min(Upvotes, 100) × 0.05 + (Days × 0.1)</a:t>
            </a:r>
          </a:p>
          <a:p>
            <a:pPr>
              <a:spcBef>
                <a:spcPts val="400"/>
              </a:spcBef>
              <a:defRPr sz="850">
                <a:solidFill>
                  <a:srgbClr val="475569"/>
                </a:solidFill>
                <a:latin typeface="Segoe UI"/>
              </a:defRPr>
            </a:pPr>
            <a:r>
              <a:t>• Water Leak (0.85): Immediate hazard to public infrastructure.</a:t>
            </a:r>
          </a:p>
          <a:p>
            <a:pPr>
              <a:spcBef>
                <a:spcPts val="400"/>
              </a:spcBef>
              <a:defRPr sz="850">
                <a:solidFill>
                  <a:srgbClr val="475569"/>
                </a:solidFill>
                <a:latin typeface="Segoe UI"/>
              </a:defRPr>
            </a:pPr>
            <a:r>
              <a:t>• Pothole (0.75): Traffic impediment &amp; road safety hazard.</a:t>
            </a:r>
          </a:p>
          <a:p>
            <a:pPr>
              <a:spcBef>
                <a:spcPts val="400"/>
              </a:spcBef>
              <a:defRPr sz="850">
                <a:solidFill>
                  <a:srgbClr val="475569"/>
                </a:solidFill>
                <a:latin typeface="Segoe UI"/>
              </a:defRPr>
            </a:pPr>
            <a:r>
              <a:t>• Illegal Dumping (0.65): Public sanitation &amp; epidemic hazard.</a:t>
            </a:r>
          </a:p>
          <a:p>
            <a:pPr>
              <a:spcBef>
                <a:spcPts val="400"/>
              </a:spcBef>
              <a:defRPr sz="850">
                <a:solidFill>
                  <a:srgbClr val="475569"/>
                </a:solidFill>
                <a:latin typeface="Segoe UI"/>
              </a:defRPr>
            </a:pPr>
            <a:r>
              <a:t>• Streetlight (0.50): Night safety &amp; municipal illumination.</a:t>
            </a:r>
          </a:p>
          <a:p>
            <a:pPr>
              <a:spcBef>
                <a:spcPts val="400"/>
              </a:spcBef>
              <a:defRPr sz="850">
                <a:solidFill>
                  <a:srgbClr val="475569"/>
                </a:solidFill>
                <a:latin typeface="Segoe UI"/>
              </a:defRPr>
            </a:pPr>
            <a:r>
              <a:t>• Priority Tiers: &gt;12 Critical  |  &gt;8 High  |  &gt;5 Medium  |  Low</a:t>
            </a:r>
          </a:p>
        </p:txBody>
      </p:sp>
      <p:sp>
        <p:nvSpPr>
          <p:cNvPr id="10" name="Rounded Rectangle 9"/>
          <p:cNvSpPr/>
          <p:nvPr/>
        </p:nvSpPr>
        <p:spPr>
          <a:xfrm>
            <a:off x="4343400" y="3154680"/>
            <a:ext cx="3474720" cy="2971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50" b="1">
                <a:solidFill>
                  <a:srgbClr val="0F766E"/>
                </a:solidFill>
                <a:latin typeface="Segoe UI"/>
              </a:defRPr>
            </a:pPr>
            <a:r>
              <a:t>🏛️ 10-Module Civic Facility Board</a:t>
            </a:r>
          </a:p>
          <a:p>
            <a:pPr>
              <a:spcBef>
                <a:spcPts val="400"/>
              </a:spcBef>
              <a:defRPr sz="900">
                <a:solidFill>
                  <a:srgbClr val="475569"/>
                </a:solidFill>
                <a:latin typeface="Segoe UI"/>
              </a:defRPr>
            </a:pPr>
            <a:r>
              <a:t>A 1,100+ line unified ticketing component managing municipal asset dispatch:</a:t>
            </a:r>
          </a:p>
          <a:p>
            <a:pPr>
              <a:spcBef>
                <a:spcPts val="400"/>
              </a:spcBef>
              <a:defRPr sz="850">
                <a:solidFill>
                  <a:srgbClr val="475569"/>
                </a:solidFill>
                <a:latin typeface="Segoe UI"/>
              </a:defRPr>
            </a:pPr>
            <a:r>
              <a:t>• Water Utilities: Emergency 5K/10K tankers &amp; pipeline repair crews.</a:t>
            </a:r>
          </a:p>
          <a:p>
            <a:pPr>
              <a:spcBef>
                <a:spcPts val="400"/>
              </a:spcBef>
              <a:defRPr sz="850">
                <a:solidFill>
                  <a:srgbClr val="475569"/>
                </a:solidFill>
                <a:latin typeface="Segoe UI"/>
              </a:defRPr>
            </a:pPr>
            <a:r>
              <a:t>• Power &amp; Grid: Feeder restoration &amp; transformer replacement.</a:t>
            </a:r>
          </a:p>
          <a:p>
            <a:pPr>
              <a:spcBef>
                <a:spcPts val="400"/>
              </a:spcBef>
              <a:defRPr sz="850">
                <a:solidFill>
                  <a:srgbClr val="475569"/>
                </a:solidFill>
                <a:latin typeface="Segoe UI"/>
              </a:defRPr>
            </a:pPr>
            <a:r>
              <a:t>• Waste &amp; SWM: Compactor fleet dispatch &amp; e-waste collection.</a:t>
            </a:r>
          </a:p>
          <a:p>
            <a:pPr>
              <a:spcBef>
                <a:spcPts val="400"/>
              </a:spcBef>
              <a:defRPr sz="850">
                <a:solidFill>
                  <a:srgbClr val="475569"/>
                </a:solidFill>
                <a:latin typeface="Segoe UI"/>
              </a:defRPr>
            </a:pPr>
            <a:r>
              <a:t>• Healthcare Support: Civil hospital ICU bed &amp; blood unit routing.</a:t>
            </a:r>
          </a:p>
          <a:p>
            <a:pPr>
              <a:spcBef>
                <a:spcPts val="400"/>
              </a:spcBef>
              <a:defRPr sz="850">
                <a:solidFill>
                  <a:srgbClr val="475569"/>
                </a:solidFill>
                <a:latin typeface="Segoe UI"/>
              </a:defRPr>
            </a:pPr>
            <a:r>
              <a:t>• Lifecycle Stages: PENDING ➔ ACCEPTED ➔ DISPATCHED ➔ DELIVERED</a:t>
            </a:r>
          </a:p>
        </p:txBody>
      </p:sp>
      <p:sp>
        <p:nvSpPr>
          <p:cNvPr id="11" name="Rounded Rectangle 10"/>
          <p:cNvSpPr/>
          <p:nvPr/>
        </p:nvSpPr>
        <p:spPr>
          <a:xfrm>
            <a:off x="7955279" y="3154680"/>
            <a:ext cx="3474720" cy="2971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50" b="1">
                <a:solidFill>
                  <a:srgbClr val="0F766E"/>
                </a:solidFill>
                <a:latin typeface="Segoe UI"/>
              </a:defRPr>
            </a:pPr>
            <a:r>
              <a:t>💬 Community Feed &amp; Citizen Voice</a:t>
            </a:r>
          </a:p>
          <a:p>
            <a:pPr>
              <a:spcBef>
                <a:spcPts val="500"/>
              </a:spcBef>
              <a:defRPr sz="850">
                <a:solidFill>
                  <a:srgbClr val="475569"/>
                </a:solidFill>
                <a:latin typeface="Segoe UI"/>
              </a:defRPr>
            </a:pPr>
            <a:r>
              <a:t>• Location Filtering: Posts segmented by All, District, or User's Own.</a:t>
            </a:r>
          </a:p>
          <a:p>
            <a:pPr>
              <a:spcBef>
                <a:spcPts val="500"/>
              </a:spcBef>
              <a:defRPr sz="850">
                <a:solidFill>
                  <a:srgbClr val="475569"/>
                </a:solidFill>
                <a:latin typeface="Segoe UI"/>
              </a:defRPr>
            </a:pPr>
            <a:r>
              <a:t>• Nested Comments: Real-time comment threads synchronized via onSnapshot.</a:t>
            </a:r>
          </a:p>
          <a:p>
            <a:pPr>
              <a:spcBef>
                <a:spcPts val="500"/>
              </a:spcBef>
              <a:defRPr sz="850">
                <a:solidFill>
                  <a:srgbClr val="475569"/>
                </a:solidFill>
                <a:latin typeface="Segoe UI"/>
              </a:defRPr>
            </a:pPr>
            <a:r>
              <a:t>• User Likes Tracking: Per-user like state saved in communityPosts/{id}/likes/{uid}.</a:t>
            </a:r>
          </a:p>
          <a:p>
            <a:pPr>
              <a:spcBef>
                <a:spcPts val="500"/>
              </a:spcBef>
              <a:defRPr sz="850">
                <a:solidFill>
                  <a:srgbClr val="475569"/>
                </a:solidFill>
                <a:latin typeface="Segoe UI"/>
              </a:defRPr>
            </a:pPr>
            <a:r>
              <a:t>• Citizen Moderation: Report button logs flagged content to communityPostReports.</a:t>
            </a:r>
          </a:p>
          <a:p>
            <a:pPr>
              <a:spcBef>
                <a:spcPts val="500"/>
              </a:spcBef>
              <a:defRPr sz="850">
                <a:solidFill>
                  <a:srgbClr val="475569"/>
                </a:solidFill>
                <a:latin typeface="Segoe UI"/>
              </a:defRPr>
            </a:pPr>
            <a:r>
              <a:t>• Domain Services: Quick access to Welfare Schemes (Ladki Bahin), Transport routes &amp; Tourism places.</a:t>
            </a:r>
          </a:p>
        </p:txBody>
      </p:sp>
      <p:sp>
        <p:nvSpPr>
          <p:cNvPr id="12" name="TextBox 11"/>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5 of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MUNICIPAL UTILITY AUTOMATION</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Electricity &amp; Municipal Water Billing Engine</a:t>
            </a:r>
          </a:p>
          <a:p>
            <a:pPr>
              <a:spcBef>
                <a:spcPts val="300"/>
              </a:spcBef>
              <a:defRPr sz="1200">
                <a:solidFill>
                  <a:srgbClr val="475569"/>
                </a:solidFill>
                <a:latin typeface="Segoe UI"/>
              </a:defRPr>
            </a:pPr>
            <a:r>
              <a:t>Deterministic tariff calculators, multi-month ledger breakdowns &amp; Brevo tax invoice receipts</a:t>
            </a:r>
          </a:p>
        </p:txBody>
      </p:sp>
      <p:sp>
        <p:nvSpPr>
          <p:cNvPr id="4" name="Rounded Rectangle 3"/>
          <p:cNvSpPr/>
          <p:nvPr/>
        </p:nvSpPr>
        <p:spPr>
          <a:xfrm>
            <a:off x="731520" y="1691640"/>
            <a:ext cx="5120640" cy="443484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B45309"/>
                </a:solidFill>
                <a:latin typeface="Segoe UI"/>
              </a:defRPr>
            </a:pPr>
            <a:r>
              <a:t>⚡ MSEDCL Electricity (Mahavitaran) Tariff</a:t>
            </a:r>
          </a:p>
          <a:p>
            <a:pPr>
              <a:spcBef>
                <a:spcPts val="500"/>
              </a:spcBef>
              <a:defRPr sz="1000" b="1">
                <a:solidFill>
                  <a:srgbClr val="92400E"/>
                </a:solidFill>
                <a:latin typeface="Segoe UI"/>
              </a:defRPr>
            </a:pPr>
            <a:r>
              <a:t>MERC Official Slabs</a:t>
            </a:r>
          </a:p>
          <a:p>
            <a:pPr>
              <a:defRPr sz="850">
                <a:solidFill>
                  <a:srgbClr val="44403C"/>
                </a:solidFill>
                <a:latin typeface="Segoe UI"/>
              </a:defRPr>
            </a:pPr>
            <a:r>
              <a:t>• 0 – 100 kWh Units: ₹4.71 / unit</a:t>
            </a:r>
            <a:br/>
            <a:r>
              <a:t>• 101 – 300 kWh Units: ₹10.29 / unit</a:t>
            </a:r>
          </a:p>
          <a:p>
            <a:pPr>
              <a:spcBef>
                <a:spcPts val="500"/>
              </a:spcBef>
              <a:defRPr sz="1000" b="1">
                <a:solidFill>
                  <a:srgbClr val="92400E"/>
                </a:solidFill>
                <a:latin typeface="Segoe UI"/>
              </a:defRPr>
            </a:pPr>
            <a:r>
              <a:t>Fixed Charges &amp; Duty</a:t>
            </a:r>
          </a:p>
          <a:p>
            <a:pPr>
              <a:defRPr sz="850">
                <a:solidFill>
                  <a:srgbClr val="44403C"/>
                </a:solidFill>
                <a:latin typeface="Segoe UI"/>
              </a:defRPr>
            </a:pPr>
            <a:r>
              <a:t>• Fixed Single-Phase Charge: ₹116.00 / month</a:t>
            </a:r>
            <a:br/>
            <a:r>
              <a:t>• Maharashtra Electricity Duty: 16% on Energy+Fixed</a:t>
            </a:r>
          </a:p>
          <a:p>
            <a:pPr>
              <a:spcBef>
                <a:spcPts val="500"/>
              </a:spcBef>
              <a:defRPr sz="1000" b="1">
                <a:solidFill>
                  <a:srgbClr val="92400E"/>
                </a:solidFill>
                <a:latin typeface="Segoe UI"/>
              </a:defRPr>
            </a:pPr>
            <a:r>
              <a:t>Supported Operators</a:t>
            </a:r>
          </a:p>
          <a:p>
            <a:pPr>
              <a:defRPr sz="850">
                <a:solidFill>
                  <a:srgbClr val="44403C"/>
                </a:solidFill>
                <a:latin typeface="Segoe UI"/>
              </a:defRPr>
            </a:pPr>
            <a:r>
              <a:t>MSEDCL, Tata Power Mumbai, Adani Electricity, BEST Undertaking, Torrent Power.</a:t>
            </a:r>
          </a:p>
          <a:p>
            <a:pPr>
              <a:spcBef>
                <a:spcPts val="500"/>
              </a:spcBef>
              <a:defRPr sz="1000" b="1">
                <a:solidFill>
                  <a:srgbClr val="92400E"/>
                </a:solidFill>
                <a:latin typeface="Segoe UI"/>
              </a:defRPr>
            </a:pPr>
            <a:r>
              <a:t>Smart Tariff Engine</a:t>
            </a:r>
          </a:p>
          <a:p>
            <a:pPr>
              <a:defRPr sz="850">
                <a:solidFill>
                  <a:srgbClr val="44403C"/>
                </a:solidFill>
                <a:latin typeface="Segoe UI"/>
              </a:defRPr>
            </a:pPr>
            <a:r>
              <a:t>Deterministic tariff calculator based on connection number hash when live APIClub gateway is offline.</a:t>
            </a:r>
          </a:p>
        </p:txBody>
      </p:sp>
      <p:sp>
        <p:nvSpPr>
          <p:cNvPr id="5" name="Rounded Rectangle 4"/>
          <p:cNvSpPr/>
          <p:nvPr/>
        </p:nvSpPr>
        <p:spPr>
          <a:xfrm>
            <a:off x="6309360" y="1691640"/>
            <a:ext cx="5120640" cy="443484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369A1"/>
                </a:solidFill>
                <a:latin typeface="Segoe UI"/>
              </a:defRPr>
            </a:pPr>
            <a:r>
              <a:t>💧 Municipal Water Supply &amp; Sewerage Board</a:t>
            </a:r>
          </a:p>
          <a:p>
            <a:pPr>
              <a:spcBef>
                <a:spcPts val="500"/>
              </a:spcBef>
              <a:defRPr sz="1000" b="1">
                <a:solidFill>
                  <a:srgbClr val="075985"/>
                </a:solidFill>
                <a:latin typeface="Segoe UI"/>
              </a:defRPr>
            </a:pPr>
            <a:r>
              <a:t>PMC / Municipal Slabs</a:t>
            </a:r>
          </a:p>
          <a:p>
            <a:pPr>
              <a:defRPr sz="850">
                <a:solidFill>
                  <a:srgbClr val="334155"/>
                </a:solidFill>
                <a:latin typeface="Segoe UI"/>
              </a:defRPr>
            </a:pPr>
            <a:r>
              <a:t>• Domestic Consumption: ₹12.50 per kL (Kilolitre)</a:t>
            </a:r>
            <a:br/>
            <a:r>
              <a:t>• Sewerage Tax / Cess: 20% on water charges</a:t>
            </a:r>
            <a:br/>
            <a:r>
              <a:t>• Municipal Meter Rent: ₹40.00 / month</a:t>
            </a:r>
          </a:p>
          <a:p>
            <a:pPr>
              <a:spcBef>
                <a:spcPts val="500"/>
              </a:spcBef>
              <a:defRPr sz="1000" b="1">
                <a:solidFill>
                  <a:srgbClr val="075985"/>
                </a:solidFill>
                <a:latin typeface="Segoe UI"/>
              </a:defRPr>
            </a:pPr>
            <a:r>
              <a:t>Multi-Month Ledger Categories</a:t>
            </a:r>
          </a:p>
          <a:p>
            <a:pPr>
              <a:defRPr sz="850">
                <a:solidFill>
                  <a:srgbClr val="334155"/>
                </a:solidFill>
                <a:latin typeface="Segoe UI"/>
              </a:defRPr>
            </a:pPr>
            <a:r>
              <a:t>• NORMAL: Standard on-time settlement (₹0 penalty)</a:t>
            </a:r>
            <a:br/>
            <a:r>
              <a:t>• OVERDUE: Late Surcharge / DPC fee added (+₹170 / ₹50)</a:t>
            </a:r>
            <a:br/>
            <a:r>
              <a:t>• OVERPAY: Excess advance balance credited to next cycle</a:t>
            </a:r>
            <a:br/>
            <a:r>
              <a:t>• SUBSIDIZED: Govt Solar / Green rebate applied (-₹300)</a:t>
            </a:r>
          </a:p>
          <a:p>
            <a:pPr>
              <a:spcBef>
                <a:spcPts val="500"/>
              </a:spcBef>
              <a:defRPr sz="1000" b="1">
                <a:solidFill>
                  <a:srgbClr val="075985"/>
                </a:solidFill>
                <a:latin typeface="Segoe UI"/>
              </a:defRPr>
            </a:pPr>
            <a:r>
              <a:t>Automated Tax Invoices</a:t>
            </a:r>
          </a:p>
          <a:p>
            <a:pPr>
              <a:defRPr sz="850">
                <a:solidFill>
                  <a:srgbClr val="334155"/>
                </a:solidFill>
                <a:latin typeface="Segoe UI"/>
              </a:defRPr>
            </a:pPr>
            <a:r>
              <a:t>Generates branded HTML tax receipts with transaction reference, consumer account number, and settlement ledger.</a:t>
            </a:r>
          </a:p>
          <a:p>
            <a:pPr>
              <a:spcBef>
                <a:spcPts val="500"/>
              </a:spcBef>
              <a:defRPr sz="1000" b="1">
                <a:solidFill>
                  <a:srgbClr val="075985"/>
                </a:solidFill>
                <a:latin typeface="Segoe UI"/>
              </a:defRPr>
            </a:pPr>
            <a:r>
              <a:t>Brevo Email Dispatch</a:t>
            </a:r>
          </a:p>
          <a:p>
            <a:pPr>
              <a:defRPr sz="850">
                <a:solidFill>
                  <a:srgbClr val="334155"/>
                </a:solidFill>
                <a:latin typeface="Segoe UI"/>
              </a:defRPr>
            </a:pPr>
            <a:r>
              <a:t>Dispatched to citizen email via Brevo REST API v3. (Note: API dispatch verified; inbox receipt subject to spam/server filters).</a:t>
            </a:r>
          </a:p>
        </p:txBody>
      </p:sp>
      <p:sp>
        <p:nvSpPr>
          <p:cNvPr id="6" name="TextBox 5"/>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6 of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LIFE-SAFETY &amp; EMERGENCY DISPATCH</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FFFFFF"/>
                </a:solidFill>
                <a:latin typeface="Segoe UI"/>
              </a:defRPr>
            </a:pPr>
            <a:r>
              <a:t>Emergency SOS Beacon &amp; Disaster Alert System</a:t>
            </a:r>
          </a:p>
          <a:p>
            <a:pPr>
              <a:spcBef>
                <a:spcPts val="300"/>
              </a:spcBef>
              <a:defRPr sz="1200">
                <a:solidFill>
                  <a:srgbClr val="FECACA"/>
                </a:solidFill>
                <a:latin typeface="Segoe UI"/>
              </a:defRPr>
            </a:pPr>
            <a:r>
              <a:t>Precision geofenced disaster advisories, Web Audio sirens, and redundant distress broadcasting</a:t>
            </a:r>
          </a:p>
        </p:txBody>
      </p:sp>
      <p:sp>
        <p:nvSpPr>
          <p:cNvPr id="4" name="Rounded Rectangle 3"/>
          <p:cNvSpPr/>
          <p:nvPr/>
        </p:nvSpPr>
        <p:spPr>
          <a:xfrm>
            <a:off x="731520" y="1691640"/>
            <a:ext cx="3383280" cy="44348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87171"/>
                </a:solidFill>
                <a:latin typeface="Segoe UI"/>
              </a:defRPr>
            </a:pPr>
            <a:r>
              <a:t>🚨 One-Touch SOS Activation</a:t>
            </a:r>
          </a:p>
          <a:p>
            <a:pPr>
              <a:spcBef>
                <a:spcPts val="800"/>
              </a:spcBef>
              <a:defRPr sz="1000" b="1">
                <a:solidFill>
                  <a:srgbClr val="FEE2E2"/>
                </a:solidFill>
                <a:latin typeface="Segoe UI"/>
              </a:defRPr>
            </a:pPr>
            <a:r>
              <a:t>• Instant Siren Trigger</a:t>
            </a:r>
          </a:p>
          <a:p>
            <a:pPr>
              <a:defRPr sz="850">
                <a:solidFill>
                  <a:srgbClr val="94A3B8"/>
                </a:solidFill>
                <a:latin typeface="Segoe UI"/>
              </a:defRPr>
            </a:pPr>
            <a:r>
              <a:t>Web Audio API synthesizes a continuous sawtooth siren sweeping 600 Hz to 1200 Hz every 0.6s.</a:t>
            </a:r>
          </a:p>
          <a:p>
            <a:pPr>
              <a:spcBef>
                <a:spcPts val="800"/>
              </a:spcBef>
              <a:defRPr sz="1000" b="1">
                <a:solidFill>
                  <a:srgbClr val="FEE2E2"/>
                </a:solidFill>
                <a:latin typeface="Segoe UI"/>
              </a:defRPr>
            </a:pPr>
            <a:r>
              <a:t>• Exact GPS Coordinate Capture</a:t>
            </a:r>
          </a:p>
          <a:p>
            <a:pPr>
              <a:defRPr sz="850">
                <a:solidFill>
                  <a:srgbClr val="94A3B8"/>
                </a:solidFill>
                <a:latin typeface="Segoe UI"/>
              </a:defRPr>
            </a:pPr>
            <a:r>
              <a:t>Resolves exact latitude &amp; longitude with OpenStreetMap reverse geocoding to address.</a:t>
            </a:r>
          </a:p>
          <a:p>
            <a:pPr>
              <a:spcBef>
                <a:spcPts val="800"/>
              </a:spcBef>
              <a:defRPr sz="1000" b="1">
                <a:solidFill>
                  <a:srgbClr val="FEE2E2"/>
                </a:solidFill>
                <a:latin typeface="Segoe UI"/>
              </a:defRPr>
            </a:pPr>
            <a:r>
              <a:t>• Google Maps Navigation Link</a:t>
            </a:r>
          </a:p>
          <a:p>
            <a:pPr>
              <a:defRPr sz="850">
                <a:solidFill>
                  <a:srgbClr val="94A3B8"/>
                </a:solidFill>
                <a:latin typeface="Segoe UI"/>
              </a:defRPr>
            </a:pPr>
            <a:r>
              <a:t>Generates direct tracking URL: https://www.google.com/maps?q={lat},{lng}</a:t>
            </a:r>
          </a:p>
          <a:p>
            <a:pPr>
              <a:spcBef>
                <a:spcPts val="800"/>
              </a:spcBef>
              <a:defRPr sz="1000" b="1">
                <a:solidFill>
                  <a:srgbClr val="FEE2E2"/>
                </a:solidFill>
                <a:latin typeface="Segoe UI"/>
              </a:defRPr>
            </a:pPr>
            <a:r>
              <a:t>• Mobile Device Handshake</a:t>
            </a:r>
          </a:p>
          <a:p>
            <a:pPr>
              <a:defRPr sz="850">
                <a:solidFill>
                  <a:srgbClr val="94A3B8"/>
                </a:solidFill>
                <a:latin typeface="Segoe UI"/>
              </a:defRPr>
            </a:pPr>
            <a:r>
              <a:t>On mobile browsers, automatically prepares native sms: URI with distress body and contacts.</a:t>
            </a:r>
          </a:p>
        </p:txBody>
      </p:sp>
      <p:sp>
        <p:nvSpPr>
          <p:cNvPr id="5" name="Rounded Rectangle 4"/>
          <p:cNvSpPr/>
          <p:nvPr/>
        </p:nvSpPr>
        <p:spPr>
          <a:xfrm>
            <a:off x="4389120" y="1691640"/>
            <a:ext cx="3383280" cy="44348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BBF24"/>
                </a:solidFill>
                <a:latin typeface="Segoe UI"/>
              </a:defRPr>
            </a:pPr>
            <a:r>
              <a:t>📡 Multi-Channel Dispatch Flow</a:t>
            </a:r>
          </a:p>
          <a:p>
            <a:pPr>
              <a:spcBef>
                <a:spcPts val="600"/>
              </a:spcBef>
              <a:defRPr sz="1000" b="1">
                <a:solidFill>
                  <a:srgbClr val="FEF3C7"/>
                </a:solidFill>
                <a:latin typeface="Segoe UI"/>
              </a:defRPr>
            </a:pPr>
            <a:r>
              <a:t>• Twilio SMS Dispatch</a:t>
            </a:r>
          </a:p>
          <a:p>
            <a:pPr>
              <a:defRPr sz="850">
                <a:solidFill>
                  <a:srgbClr val="94A3B8"/>
                </a:solidFill>
                <a:latin typeface="Segoe UI"/>
              </a:defRPr>
            </a:pPr>
            <a:r>
              <a:t>Sends emergency SMS with GPS coordinates to verified emergency family contacts.</a:t>
            </a:r>
          </a:p>
          <a:p>
            <a:pPr>
              <a:spcBef>
                <a:spcPts val="600"/>
              </a:spcBef>
              <a:defRPr sz="1000" b="1">
                <a:solidFill>
                  <a:srgbClr val="FEF3C7"/>
                </a:solidFill>
                <a:latin typeface="Segoe UI"/>
              </a:defRPr>
            </a:pPr>
            <a:r>
              <a:t>• Fast2SMS Indian Fallback</a:t>
            </a:r>
          </a:p>
          <a:p>
            <a:pPr>
              <a:defRPr sz="850">
                <a:solidFill>
                  <a:srgbClr val="94A3B8"/>
                </a:solidFill>
                <a:latin typeface="Segoe UI"/>
              </a:defRPr>
            </a:pPr>
            <a:r>
              <a:t>Automatically routes through Fast2SMS Indian gateway if Twilio international trial limits block SMS.</a:t>
            </a:r>
          </a:p>
          <a:p>
            <a:pPr>
              <a:spcBef>
                <a:spcPts val="600"/>
              </a:spcBef>
              <a:defRPr sz="1000" b="1">
                <a:solidFill>
                  <a:srgbClr val="FEF3C7"/>
                </a:solidFill>
                <a:latin typeface="Segoe UI"/>
              </a:defRPr>
            </a:pPr>
            <a:r>
              <a:t>• Brevo Priority Email</a:t>
            </a:r>
          </a:p>
          <a:p>
            <a:pPr>
              <a:defRPr sz="850">
                <a:solidFill>
                  <a:srgbClr val="94A3B8"/>
                </a:solidFill>
                <a:latin typeface="Segoe UI"/>
              </a:defRPr>
            </a:pPr>
            <a:r>
              <a:t>Transmits formatted red-banner HTML distress email to user and emergency contacts.</a:t>
            </a:r>
          </a:p>
          <a:p>
            <a:pPr>
              <a:spcBef>
                <a:spcPts val="600"/>
              </a:spcBef>
              <a:defRPr sz="1000" b="1">
                <a:solidFill>
                  <a:srgbClr val="FEF3C7"/>
                </a:solidFill>
                <a:latin typeface="Segoe UI"/>
              </a:defRPr>
            </a:pPr>
            <a:r>
              <a:t>• Dual Dispatch Paths</a:t>
            </a:r>
          </a:p>
          <a:p>
            <a:pPr>
              <a:defRPr sz="850">
                <a:solidFill>
                  <a:srgbClr val="94A3B8"/>
                </a:solidFill>
                <a:latin typeface="Segoe UI"/>
              </a:defRPr>
            </a:pPr>
            <a:r>
              <a:t>Frontend executes direct client Brevo dispatch as fail-safe alongside backend /api/sms/sos endpoint.</a:t>
            </a:r>
          </a:p>
          <a:p>
            <a:pPr>
              <a:spcBef>
                <a:spcPts val="600"/>
              </a:spcBef>
              <a:defRPr sz="1000" b="1">
                <a:solidFill>
                  <a:srgbClr val="FEF3C7"/>
                </a:solidFill>
                <a:latin typeface="Segoe UI"/>
              </a:defRPr>
            </a:pPr>
            <a:r>
              <a:t>• Delivery Note</a:t>
            </a:r>
          </a:p>
          <a:p>
            <a:pPr>
              <a:defRPr sz="850">
                <a:solidFill>
                  <a:srgbClr val="94A3B8"/>
                </a:solidFill>
                <a:latin typeface="Segoe UI"/>
              </a:defRPr>
            </a:pPr>
            <a:r>
              <a:t>Gateway API dispatches are verified in logs; recipient receipt depends on carrier and spam filters.</a:t>
            </a:r>
          </a:p>
        </p:txBody>
      </p:sp>
      <p:sp>
        <p:nvSpPr>
          <p:cNvPr id="6" name="Rounded Rectangle 5"/>
          <p:cNvSpPr/>
          <p:nvPr/>
        </p:nvSpPr>
        <p:spPr>
          <a:xfrm>
            <a:off x="8046720" y="1691640"/>
            <a:ext cx="3383280" cy="44348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38BDF8"/>
                </a:solidFill>
                <a:latin typeface="Segoe UI"/>
              </a:defRPr>
            </a:pPr>
            <a:r>
              <a:t>🎯 Geofenced Disaster Alerts</a:t>
            </a:r>
          </a:p>
          <a:p>
            <a:pPr>
              <a:spcBef>
                <a:spcPts val="800"/>
              </a:spcBef>
              <a:defRPr sz="1000" b="1">
                <a:solidFill>
                  <a:srgbClr val="E0F2FE"/>
                </a:solidFill>
                <a:latin typeface="Segoe UI"/>
              </a:defRPr>
            </a:pPr>
            <a:r>
              <a:t>• Strict Locality Matching</a:t>
            </a:r>
          </a:p>
          <a:p>
            <a:pPr>
              <a:defRPr sz="850">
                <a:solidFill>
                  <a:srgbClr val="94A3B8"/>
                </a:solidFill>
                <a:latin typeface="Segoe UI"/>
              </a:defRPr>
            </a:pPr>
            <a:r>
              <a:t>Evaluates district, city, ward, and Haversine radius so Kolhapur residents never see Pune alarms.</a:t>
            </a:r>
          </a:p>
          <a:p>
            <a:pPr>
              <a:spcBef>
                <a:spcPts val="800"/>
              </a:spcBef>
              <a:defRPr sz="1000" b="1">
                <a:solidFill>
                  <a:srgbClr val="E0F2FE"/>
                </a:solidFill>
                <a:latin typeface="Segoe UI"/>
              </a:defRPr>
            </a:pPr>
            <a:r>
              <a:t>• Alert Ingestion</a:t>
            </a:r>
          </a:p>
          <a:p>
            <a:pPr>
              <a:defRPr sz="850">
                <a:solidFill>
                  <a:srgbClr val="94A3B8"/>
                </a:solidFill>
                <a:latin typeface="Segoe UI"/>
              </a:defRPr>
            </a:pPr>
            <a:r>
              <a:t>Parses global GDACS RSS XML feed and maps to localized NDMA Sachet disaster schema (Flood, Heatwave, Cyclone).</a:t>
            </a:r>
          </a:p>
          <a:p>
            <a:pPr>
              <a:spcBef>
                <a:spcPts val="800"/>
              </a:spcBef>
              <a:defRPr sz="1000" b="1">
                <a:solidFill>
                  <a:srgbClr val="E0F2FE"/>
                </a:solidFill>
                <a:latin typeface="Segoe UI"/>
              </a:defRPr>
            </a:pPr>
            <a:r>
              <a:t>• Statewide Emergency Mode</a:t>
            </a:r>
          </a:p>
          <a:p>
            <a:pPr>
              <a:defRPr sz="850">
                <a:solidFill>
                  <a:srgbClr val="94A3B8"/>
                </a:solidFill>
                <a:latin typeface="Segoe UI"/>
              </a:defRPr>
            </a:pPr>
            <a:r>
              <a:t>Super Admin toggle transforms active citizen interfaces into high-contrast red emergency warning mode.</a:t>
            </a:r>
          </a:p>
          <a:p>
            <a:pPr>
              <a:spcBef>
                <a:spcPts val="800"/>
              </a:spcBef>
              <a:defRPr sz="1000" b="1">
                <a:solidFill>
                  <a:srgbClr val="E0F2FE"/>
                </a:solidFill>
                <a:latin typeface="Segoe UI"/>
              </a:defRPr>
            </a:pPr>
            <a:r>
              <a:t>• Emergency Shelters</a:t>
            </a:r>
          </a:p>
          <a:p>
            <a:pPr>
              <a:defRPr sz="850">
                <a:solidFill>
                  <a:srgbClr val="94A3B8"/>
                </a:solidFill>
                <a:latin typeface="Segoe UI"/>
              </a:defRPr>
            </a:pPr>
            <a:r>
              <a:t>Distance-sorted municipal evacuation centers with capacity, occupancy &amp; available resources (food/water).</a:t>
            </a:r>
          </a:p>
        </p:txBody>
      </p:sp>
      <p:sp>
        <p:nvSpPr>
          <p:cNvPr id="7" name="TextBox 6"/>
          <p:cNvSpPr txBox="1"/>
          <p:nvPr/>
        </p:nvSpPr>
        <p:spPr>
          <a:xfrm>
            <a:off x="731520" y="6355080"/>
            <a:ext cx="10698480" cy="320040"/>
          </a:xfrm>
          <a:prstGeom prst="rect">
            <a:avLst/>
          </a:prstGeom>
          <a:noFill/>
        </p:spPr>
        <p:txBody>
          <a:bodyPr wrap="square" lIns="0" tIns="0" rIns="0" bIns="0">
            <a:spAutoFit/>
          </a:bodyPr>
          <a:lstStyle/>
          <a:p>
            <a:pPr>
              <a:defRPr sz="900">
                <a:solidFill>
                  <a:srgbClr val="94A3B8"/>
                </a:solidFill>
                <a:latin typeface="Segoe UI"/>
              </a:defRPr>
            </a:pPr>
            <a:r>
              <a:t>MahaResilience (Smart Community Hub)  |  Presenter: Sanskar Dhat  |  Portal: mahareilience.web.app</a:t>
            </a:r>
          </a:p>
          <a:p>
            <a:pPr algn="r">
              <a:defRPr sz="900" b="1">
                <a:solidFill>
                  <a:srgbClr val="94A3B8"/>
                </a:solidFill>
                <a:latin typeface="Segoe UI"/>
              </a:defRPr>
            </a:pPr>
            <a:r>
              <a:t>Slide 7 of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FF"/>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INTELLIGENT CITIZEN ASSISTANCE &amp; GIS</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Google Gemini AI, MapTiler GIS &amp; Resilience Score</a:t>
            </a:r>
          </a:p>
          <a:p>
            <a:pPr>
              <a:spcBef>
                <a:spcPts val="300"/>
              </a:spcBef>
              <a:defRPr sz="1200">
                <a:solidFill>
                  <a:srgbClr val="475569"/>
                </a:solidFill>
                <a:latin typeface="Segoe UI"/>
              </a:defRPr>
            </a:pPr>
            <a:r>
              <a:t>Multi-lingual conversational AI, turn-by-turn routing, and mathematical spatial resilience scoring</a:t>
            </a:r>
          </a:p>
        </p:txBody>
      </p:sp>
      <p:sp>
        <p:nvSpPr>
          <p:cNvPr id="4" name="Rounded Rectangle 3"/>
          <p:cNvSpPr/>
          <p:nvPr/>
        </p:nvSpPr>
        <p:spPr>
          <a:xfrm>
            <a:off x="731520" y="1691640"/>
            <a:ext cx="3383280" cy="4434840"/>
          </a:xfrm>
          <a:prstGeom prst="roundRect">
            <a:avLst/>
          </a:prstGeom>
          <a:solidFill>
            <a:srgbClr val="FFFFFF"/>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6D28D9"/>
                </a:solidFill>
                <a:latin typeface="Segoe UI"/>
              </a:defRPr>
            </a:pPr>
            <a:r>
              <a:t>🤖 Google Gemini AI Assistant</a:t>
            </a:r>
          </a:p>
          <a:p>
            <a:pPr>
              <a:spcBef>
                <a:spcPts val="800"/>
              </a:spcBef>
              <a:defRPr sz="1000" b="1">
                <a:solidFill>
                  <a:srgbClr val="5B21B6"/>
                </a:solidFill>
                <a:latin typeface="Segoe UI"/>
              </a:defRPr>
            </a:pPr>
            <a:r>
              <a:t>• Multi-Model Auto-Fallback</a:t>
            </a:r>
          </a:p>
          <a:p>
            <a:pPr>
              <a:defRPr sz="850">
                <a:solidFill>
                  <a:srgbClr val="475569"/>
                </a:solidFill>
                <a:latin typeface="Segoe UI"/>
              </a:defRPr>
            </a:pPr>
            <a:r>
              <a:t>Connects to gemini-1.5-flash, gemini-2.0-flash, and gemini-1.5-pro for fast, grounded civic guidance.</a:t>
            </a:r>
          </a:p>
          <a:p>
            <a:pPr>
              <a:spcBef>
                <a:spcPts val="800"/>
              </a:spcBef>
              <a:defRPr sz="1000" b="1">
                <a:solidFill>
                  <a:srgbClr val="5B21B6"/>
                </a:solidFill>
                <a:latin typeface="Segoe UI"/>
              </a:defRPr>
            </a:pPr>
            <a:r>
              <a:t>• Voice Input &amp; Speech Synthesis</a:t>
            </a:r>
          </a:p>
          <a:p>
            <a:pPr>
              <a:defRPr sz="850">
                <a:solidFill>
                  <a:srgbClr val="475569"/>
                </a:solidFill>
                <a:latin typeface="Segoe UI"/>
              </a:defRPr>
            </a:pPr>
            <a:r>
              <a:t>Web Speech API speech-to-text dictation and text-to-speech audio playback in Marathi, Hindi &amp; English.</a:t>
            </a:r>
          </a:p>
          <a:p>
            <a:pPr>
              <a:spcBef>
                <a:spcPts val="800"/>
              </a:spcBef>
              <a:defRPr sz="1000" b="1">
                <a:solidFill>
                  <a:srgbClr val="5B21B6"/>
                </a:solidFill>
                <a:latin typeface="Segoe UI"/>
              </a:defRPr>
            </a:pPr>
            <a:r>
              <a:t>• Context-Aware District Prompts</a:t>
            </a:r>
          </a:p>
          <a:p>
            <a:pPr>
              <a:defRPr sz="850">
                <a:solidFill>
                  <a:srgbClr val="475569"/>
                </a:solidFill>
                <a:latin typeface="Segoe UI"/>
              </a:defRPr>
            </a:pPr>
            <a:r>
              <a:t>Automatically feeds citizen location, active weather alerts, and local administrative helplines to Gemini.</a:t>
            </a:r>
          </a:p>
          <a:p>
            <a:pPr>
              <a:spcBef>
                <a:spcPts val="800"/>
              </a:spcBef>
              <a:defRPr sz="1000" b="1">
                <a:solidFill>
                  <a:srgbClr val="5B21B6"/>
                </a:solidFill>
                <a:latin typeface="Segoe UI"/>
              </a:defRPr>
            </a:pPr>
            <a:r>
              <a:t>• Agronomy &amp; CIBRC Advisor</a:t>
            </a:r>
          </a:p>
          <a:p>
            <a:pPr>
              <a:defRPr sz="850">
                <a:solidFill>
                  <a:srgbClr val="475569"/>
                </a:solidFill>
                <a:latin typeface="Segoe UI"/>
              </a:defRPr>
            </a:pPr>
            <a:r>
              <a:t>Advises farmers on crop diseases, approved pesticides, and APMC Mandi commodity rates.</a:t>
            </a:r>
          </a:p>
        </p:txBody>
      </p:sp>
      <p:sp>
        <p:nvSpPr>
          <p:cNvPr id="5" name="Rounded Rectangle 4"/>
          <p:cNvSpPr/>
          <p:nvPr/>
        </p:nvSpPr>
        <p:spPr>
          <a:xfrm>
            <a:off x="4389120" y="1691640"/>
            <a:ext cx="3383280" cy="443484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MapTiler GIS &amp; OSRM Routing</a:t>
            </a:r>
          </a:p>
          <a:p>
            <a:pPr>
              <a:spcBef>
                <a:spcPts val="800"/>
              </a:spcBef>
              <a:defRPr sz="1000" b="1">
                <a:solidFill>
                  <a:srgbClr val="075985"/>
                </a:solidFill>
                <a:latin typeface="Segoe UI"/>
              </a:defRPr>
            </a:pPr>
            <a:r>
              <a:t>• 4 MapTiler Style Layers</a:t>
            </a:r>
          </a:p>
          <a:p>
            <a:pPr>
              <a:defRPr sz="850">
                <a:solidFill>
                  <a:srgbClr val="475569"/>
                </a:solidFill>
                <a:latin typeface="Segoe UI"/>
              </a:defRPr>
            </a:pPr>
            <a:r>
              <a:t>Streets-v2, Outdoor-v2, Dataviz-Dark, and Satellite Hybrid imagery with real-time toggle.</a:t>
            </a:r>
          </a:p>
          <a:p>
            <a:pPr>
              <a:spcBef>
                <a:spcPts val="800"/>
              </a:spcBef>
              <a:defRPr sz="1000" b="1">
                <a:solidFill>
                  <a:srgbClr val="075985"/>
                </a:solidFill>
                <a:latin typeface="Segoe UI"/>
              </a:defRPr>
            </a:pPr>
            <a:r>
              <a:t>• 8 Categorized Asset Pins</a:t>
            </a:r>
          </a:p>
          <a:p>
            <a:pPr>
              <a:defRPr sz="850">
                <a:solidFill>
                  <a:srgbClr val="475569"/>
                </a:solidFill>
                <a:latin typeface="Segoe UI"/>
              </a:defRPr>
            </a:pPr>
            <a:r>
              <a:t>Custom color pins for Hospitals (Red), Shelters (Green), Grievances (Amber), Transit (Blue), Forts (Purple).</a:t>
            </a:r>
          </a:p>
          <a:p>
            <a:pPr>
              <a:spcBef>
                <a:spcPts val="800"/>
              </a:spcBef>
              <a:defRPr sz="1000" b="1">
                <a:solidFill>
                  <a:srgbClr val="075985"/>
                </a:solidFill>
                <a:latin typeface="Segoe UI"/>
              </a:defRPr>
            </a:pPr>
            <a:r>
              <a:t>• OSRM Turn-by-Turn Engine</a:t>
            </a:r>
          </a:p>
          <a:p>
            <a:pPr>
              <a:defRPr sz="850">
                <a:solidFill>
                  <a:srgbClr val="475569"/>
                </a:solidFill>
                <a:latin typeface="Segoe UI"/>
              </a:defRPr>
            </a:pPr>
            <a:r>
              <a:t>Calculates live routes with driving, walking, and cycling modes, duration estimates, and Leaflet polylines.</a:t>
            </a:r>
          </a:p>
          <a:p>
            <a:pPr>
              <a:spcBef>
                <a:spcPts val="800"/>
              </a:spcBef>
              <a:defRPr sz="1000" b="1">
                <a:solidFill>
                  <a:srgbClr val="075985"/>
                </a:solidFill>
                <a:latin typeface="Segoe UI"/>
              </a:defRPr>
            </a:pPr>
            <a:r>
              <a:t>• Tourism &amp; Heritage Directory</a:t>
            </a:r>
          </a:p>
          <a:p>
            <a:pPr>
              <a:defRPr sz="850">
                <a:solidFill>
                  <a:srgbClr val="475569"/>
                </a:solidFill>
                <a:latin typeface="Segoe UI"/>
              </a:defRPr>
            </a:pPr>
            <a:r>
              <a:t>Exploration guide for forts (Sinhagad, Shaniwar Wada), temples &amp; lakes with 200m duplicate detection.</a:t>
            </a:r>
          </a:p>
        </p:txBody>
      </p:sp>
      <p:sp>
        <p:nvSpPr>
          <p:cNvPr id="6" name="Rounded Rectangle 5"/>
          <p:cNvSpPr/>
          <p:nvPr/>
        </p:nvSpPr>
        <p:spPr>
          <a:xfrm>
            <a:off x="8046720" y="1691640"/>
            <a:ext cx="3383280" cy="4434840"/>
          </a:xfrm>
          <a:prstGeom prst="roundRect">
            <a:avLst/>
          </a:prstGeom>
          <a:solidFill>
            <a:srgbClr val="FFFFFF"/>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15803D"/>
                </a:solidFill>
                <a:latin typeface="Segoe UI"/>
              </a:defRPr>
            </a:pPr>
            <a:r>
              <a:t>🛡️ Resilience Score Engine</a:t>
            </a:r>
          </a:p>
          <a:p>
            <a:pPr>
              <a:spcBef>
                <a:spcPts val="600"/>
              </a:spcBef>
              <a:defRPr sz="850" b="1">
                <a:solidFill>
                  <a:srgbClr val="B45309"/>
                </a:solidFill>
                <a:latin typeface="Consolas"/>
              </a:defRPr>
            </a:pPr>
            <a:r>
              <a:t>FinalScore = 0.70·Objective + 0.20·Community + 0.10·Infrastructure</a:t>
            </a:r>
          </a:p>
          <a:p>
            <a:pPr>
              <a:spcBef>
                <a:spcPts val="600"/>
              </a:spcBef>
              <a:defRPr sz="950" b="1">
                <a:solidFill>
                  <a:srgbClr val="166534"/>
                </a:solidFill>
                <a:latin typeface="Segoe UI"/>
              </a:defRPr>
            </a:pPr>
            <a:r>
              <a:t>• Objective Alerts (70%)</a:t>
            </a:r>
          </a:p>
          <a:p>
            <a:pPr>
              <a:defRPr sz="850">
                <a:solidFill>
                  <a:srgbClr val="475569"/>
                </a:solidFill>
                <a:latin typeface="Segoe UI"/>
              </a:defRPr>
            </a:pPr>
            <a:r>
              <a:t>Starts at 100; drops by -25 for Critical alerts, -15 for High, -5 for Medium. Floor: 20.</a:t>
            </a:r>
          </a:p>
          <a:p>
            <a:pPr>
              <a:spcBef>
                <a:spcPts val="600"/>
              </a:spcBef>
              <a:defRPr sz="950" b="1">
                <a:solidFill>
                  <a:srgbClr val="166534"/>
                </a:solidFill>
                <a:latin typeface="Segoe UI"/>
              </a:defRPr>
            </a:pPr>
            <a:r>
              <a:t>• Community Validated (20%)</a:t>
            </a:r>
          </a:p>
          <a:p>
            <a:pPr>
              <a:defRPr sz="850">
                <a:solidFill>
                  <a:srgbClr val="475569"/>
                </a:solidFill>
                <a:latin typeface="Segoe UI"/>
              </a:defRPr>
            </a:pPr>
            <a:r>
              <a:t>Starts at 95; penalizes -4 points for each open municipal grievance in district. Floor: 30.</a:t>
            </a:r>
          </a:p>
          <a:p>
            <a:pPr>
              <a:spcBef>
                <a:spcPts val="600"/>
              </a:spcBef>
              <a:defRPr sz="950" b="1">
                <a:solidFill>
                  <a:srgbClr val="166534"/>
                </a:solidFill>
                <a:latin typeface="Segoe UI"/>
              </a:defRPr>
            </a:pPr>
            <a:r>
              <a:t>• Infrastructure Score (10%)</a:t>
            </a:r>
          </a:p>
          <a:p>
            <a:pPr>
              <a:defRPr sz="850">
                <a:solidFill>
                  <a:srgbClr val="475569"/>
                </a:solidFill>
                <a:latin typeface="Segoe UI"/>
              </a:defRPr>
            </a:pPr>
            <a:r>
              <a:t>75 when active hazards exist; 92 during normal civic operations.</a:t>
            </a:r>
          </a:p>
          <a:p>
            <a:pPr>
              <a:spcBef>
                <a:spcPts val="600"/>
              </a:spcBef>
              <a:defRPr sz="950" b="1">
                <a:solidFill>
                  <a:srgbClr val="166534"/>
                </a:solidFill>
                <a:latin typeface="Segoe UI"/>
              </a:defRPr>
            </a:pPr>
            <a:r>
              <a:t>• 3 Zonal Classifications</a:t>
            </a:r>
          </a:p>
          <a:p>
            <a:pPr>
              <a:defRPr sz="850">
                <a:solidFill>
                  <a:srgbClr val="475569"/>
                </a:solidFill>
                <a:latin typeface="Segoe UI"/>
              </a:defRPr>
            </a:pPr>
            <a:r>
              <a:t>• ≥75: HIGH RESILIENCE SAFE ZONE</a:t>
            </a:r>
            <a:br/>
            <a:r>
              <a:t>• 50–74: MODERATE WATCH ZONE</a:t>
            </a:r>
            <a:br/>
            <a:r>
              <a:t>• &lt;50: CRITICAL ALERT ZONE</a:t>
            </a:r>
          </a:p>
        </p:txBody>
      </p:sp>
      <p:sp>
        <p:nvSpPr>
          <p:cNvPr id="7" name="TextBox 6"/>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8 of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GOVERNANCE, SECURITY &amp; QUALITY AUDIT</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0F172A"/>
                </a:solidFill>
                <a:latin typeface="Segoe UI"/>
              </a:defRPr>
            </a:pPr>
            <a:r>
              <a:t>Administrative Portals, Security &amp; Verification Audit</a:t>
            </a:r>
          </a:p>
          <a:p>
            <a:pPr>
              <a:spcBef>
                <a:spcPts val="300"/>
              </a:spcBef>
              <a:defRPr sz="1200">
                <a:solidFill>
                  <a:srgbClr val="475569"/>
                </a:solidFill>
                <a:latin typeface="Segoe UI"/>
              </a:defRPr>
            </a:pPr>
            <a:r>
              <a:t>13 specialized administrative portals, RBAC access control, security mechanisms, and build audit</a:t>
            </a:r>
          </a:p>
        </p:txBody>
      </p:sp>
      <p:sp>
        <p:nvSpPr>
          <p:cNvPr id="4" name="Rounded Rectangle 3"/>
          <p:cNvSpPr/>
          <p:nvPr/>
        </p:nvSpPr>
        <p:spPr>
          <a:xfrm>
            <a:off x="731520" y="1691640"/>
            <a:ext cx="5120640" cy="4434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50" b="1">
                <a:solidFill>
                  <a:srgbClr val="0F172A"/>
                </a:solidFill>
                <a:latin typeface="Segoe UI"/>
              </a:defRPr>
            </a:pPr>
            <a:r>
              <a:t>👑 Multi-Tier Administrative Command Hierarchy</a:t>
            </a:r>
          </a:p>
          <a:p>
            <a:pPr>
              <a:spcBef>
                <a:spcPts val="800"/>
              </a:spcBef>
              <a:defRPr sz="1000" b="1">
                <a:solidFill>
                  <a:srgbClr val="1E293B"/>
                </a:solidFill>
                <a:latin typeface="Segoe UI"/>
              </a:defRPr>
            </a:pPr>
            <a:r>
              <a:t>• Super Admin Master Center</a:t>
            </a:r>
          </a:p>
          <a:p>
            <a:pPr>
              <a:defRPr sz="850">
                <a:solidFill>
                  <a:srgbClr val="475569"/>
                </a:solidFill>
                <a:latin typeface="Segoe UI"/>
              </a:defRPr>
            </a:pPr>
            <a:r>
              <a:t>Statewide governance, user role modification, volunteer approvals, account suspensions, audit logging &amp; emergency mode.</a:t>
            </a:r>
          </a:p>
          <a:p>
            <a:pPr>
              <a:spcBef>
                <a:spcPts val="800"/>
              </a:spcBef>
              <a:defRPr sz="1000" b="1">
                <a:solidFill>
                  <a:srgbClr val="1E293B"/>
                </a:solidFill>
                <a:latin typeface="Segoe UI"/>
              </a:defRPr>
            </a:pPr>
            <a:r>
              <a:t>• District Collectorate Portal</a:t>
            </a:r>
          </a:p>
          <a:p>
            <a:pPr>
              <a:defRPr sz="850">
                <a:solidFill>
                  <a:srgbClr val="475569"/>
                </a:solidFill>
                <a:latin typeface="Segoe UI"/>
              </a:defRPr>
            </a:pPr>
            <a:r>
              <a:t>Regional oversight across talukas, shelter capacity tracking &amp; emergency asset routing.</a:t>
            </a:r>
          </a:p>
          <a:p>
            <a:pPr>
              <a:spcBef>
                <a:spcPts val="800"/>
              </a:spcBef>
              <a:defRPr sz="1000" b="1">
                <a:solidFill>
                  <a:srgbClr val="1E293B"/>
                </a:solidFill>
                <a:latin typeface="Segoe UI"/>
              </a:defRPr>
            </a:pPr>
            <a:r>
              <a:t>• 11 Department Portals</a:t>
            </a:r>
          </a:p>
          <a:p>
            <a:pPr>
              <a:defRPr sz="850">
                <a:solidFill>
                  <a:srgbClr val="475569"/>
                </a:solidFill>
                <a:latin typeface="Segoe UI"/>
              </a:defRPr>
            </a:pPr>
            <a:r>
              <a:t>Specialized portals for Water (tankers), Electricity (grid outages), Healthcare (ICU beds), Waste (SWM compactor fleet), Agriculture, Tourism, Transport, and Grievances.</a:t>
            </a:r>
          </a:p>
          <a:p>
            <a:pPr>
              <a:spcBef>
                <a:spcPts val="800"/>
              </a:spcBef>
              <a:defRPr sz="1000" b="1">
                <a:solidFill>
                  <a:srgbClr val="1E293B"/>
                </a:solidFill>
                <a:latin typeface="Segoe UI"/>
              </a:defRPr>
            </a:pPr>
            <a:r>
              <a:t>• Role-Based Access Control (RBAC)</a:t>
            </a:r>
          </a:p>
          <a:p>
            <a:pPr>
              <a:defRPr sz="850">
                <a:solidFill>
                  <a:srgbClr val="475569"/>
                </a:solidFill>
                <a:latin typeface="Segoe UI"/>
              </a:defRPr>
            </a:pPr>
            <a:r>
              <a:t>adminAuth.ts verifies JWT claims and matches user's assigned adminField, denying unauthorized access to department desks.</a:t>
            </a:r>
          </a:p>
        </p:txBody>
      </p:sp>
      <p:sp>
        <p:nvSpPr>
          <p:cNvPr id="5" name="Rounded Rectangle 4"/>
          <p:cNvSpPr/>
          <p:nvPr/>
        </p:nvSpPr>
        <p:spPr>
          <a:xfrm>
            <a:off x="6309360" y="1691640"/>
            <a:ext cx="5120640" cy="2377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F172A"/>
                </a:solidFill>
                <a:latin typeface="Segoe UI"/>
              </a:defRPr>
            </a:pPr>
            <a:r>
              <a:t>🔒 Security Mechanisms &amp; Documented Gaps</a:t>
            </a:r>
          </a:p>
          <a:p>
            <a:pPr>
              <a:spcBef>
                <a:spcPts val="400"/>
              </a:spcBef>
              <a:defRPr sz="850">
                <a:solidFill>
                  <a:srgbClr val="475569"/>
                </a:solidFill>
                <a:latin typeface="Segoe UI"/>
              </a:defRPr>
            </a:pPr>
            <a:r>
              <a:t>• Implemented Protections: 7-day signed JWTs, bcryptjs password hashing (10 rounds), Helmet COOP headers, 200 req/15min rate limiting, and 5-attempt account lockout.</a:t>
            </a:r>
          </a:p>
          <a:p>
            <a:pPr>
              <a:spcBef>
                <a:spcPts val="400"/>
              </a:spcBef>
              <a:defRPr sz="850">
                <a:solidFill>
                  <a:srgbClr val="475569"/>
                </a:solidFill>
                <a:latin typeface="Segoe UI"/>
              </a:defRPr>
            </a:pPr>
            <a:r>
              <a:t>• Audit Logging: Admin actions (roles, suspensions, emergency toggle) logged to Firestore auditLogs.</a:t>
            </a:r>
          </a:p>
          <a:p>
            <a:pPr>
              <a:spcBef>
                <a:spcPts val="400"/>
              </a:spcBef>
              <a:defRPr sz="850">
                <a:solidFill>
                  <a:srgbClr val="475569"/>
                </a:solidFill>
                <a:latin typeface="Segoe UI"/>
              </a:defRPr>
            </a:pPr>
            <a:r>
              <a:t>• Documented Gaps (Planned): firestore.rules currently open (allow read, write: if true); client-exposed Brevo key in sosService.ts needs backend isolation.</a:t>
            </a:r>
          </a:p>
        </p:txBody>
      </p:sp>
      <p:sp>
        <p:nvSpPr>
          <p:cNvPr id="6" name="Rounded Rectangle 5"/>
          <p:cNvSpPr/>
          <p:nvPr/>
        </p:nvSpPr>
        <p:spPr>
          <a:xfrm>
            <a:off x="6309360" y="4206240"/>
            <a:ext cx="5120640" cy="192024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15803D"/>
                </a:solidFill>
                <a:latin typeface="Segoe UI"/>
              </a:defRPr>
            </a:pPr>
            <a:r>
              <a:t>🧪 Verified Testing &amp; Operational Audit Status</a:t>
            </a:r>
          </a:p>
          <a:p>
            <a:pPr>
              <a:spcBef>
                <a:spcPts val="300"/>
              </a:spcBef>
              <a:defRPr sz="850">
                <a:solidFill>
                  <a:srgbClr val="334155"/>
                </a:solidFill>
                <a:latin typeface="Segoe UI"/>
              </a:defRPr>
            </a:pPr>
            <a:r>
              <a:t>• Frontend Production Build: Verified PASSING via Vite ('npm run build' generates clean 'dist/').</a:t>
            </a:r>
          </a:p>
          <a:p>
            <a:pPr>
              <a:spcBef>
                <a:spcPts val="300"/>
              </a:spcBef>
              <a:defRPr sz="850">
                <a:solidFill>
                  <a:srgbClr val="334155"/>
                </a:solidFill>
                <a:latin typeface="Segoe UI"/>
              </a:defRPr>
            </a:pPr>
            <a:r>
              <a:t>• Backend Build &amp; ORM: Verified PASSING via 'prisma generate &amp;&amp; tsc'.</a:t>
            </a:r>
          </a:p>
          <a:p>
            <a:pPr>
              <a:spcBef>
                <a:spcPts val="300"/>
              </a:spcBef>
              <a:defRPr sz="850">
                <a:solidFill>
                  <a:srgbClr val="334155"/>
                </a:solidFill>
                <a:latin typeface="Segoe UI"/>
              </a:defRPr>
            </a:pPr>
            <a:r>
              <a:t>• Live Operational Testing: testBrevoDirect.ts, testEmergencyDispatch.ts, and testLiveBackendSos.ts confirm live SMS and email dispatches.</a:t>
            </a:r>
          </a:p>
          <a:p>
            <a:pPr>
              <a:spcBef>
                <a:spcPts val="300"/>
              </a:spcBef>
              <a:defRPr sz="850">
                <a:solidFill>
                  <a:srgbClr val="334155"/>
                </a:solidFill>
                <a:latin typeface="Segoe UI"/>
              </a:defRPr>
            </a:pPr>
            <a:r>
              <a:t>• Automated Test Limitation: 0% automated CI test coverage (no Jest/Vitest/Playwright suites currently configured; identified as immediate roadmap priority).</a:t>
            </a:r>
          </a:p>
        </p:txBody>
      </p:sp>
      <p:sp>
        <p:nvSpPr>
          <p:cNvPr id="7" name="TextBox 6"/>
          <p:cNvSpPr txBox="1"/>
          <p:nvPr/>
        </p:nvSpPr>
        <p:spPr>
          <a:xfrm>
            <a:off x="731520" y="6355080"/>
            <a:ext cx="10698480" cy="320040"/>
          </a:xfrm>
          <a:prstGeom prst="rect">
            <a:avLst/>
          </a:prstGeom>
          <a:noFill/>
        </p:spPr>
        <p:txBody>
          <a:bodyPr wrap="square" lIns="0" tIns="0" rIns="0" bIns="0">
            <a:spAutoFit/>
          </a:bodyPr>
          <a:lstStyle/>
          <a:p>
            <a:pPr>
              <a:defRPr sz="900">
                <a:solidFill>
                  <a:srgbClr val="64748B"/>
                </a:solidFill>
                <a:latin typeface="Segoe UI"/>
              </a:defRPr>
            </a:pPr>
            <a:r>
              <a:t>MahaResilience (Smart Community Hub)  |  Presenter: Sanskar Dhat  |  Portal: mahareilience.web.app</a:t>
            </a:r>
          </a:p>
          <a:p>
            <a:pPr algn="r">
              <a:defRPr sz="900" b="1">
                <a:solidFill>
                  <a:srgbClr val="64748B"/>
                </a:solidFill>
                <a:latin typeface="Segoe UI"/>
              </a:defRPr>
            </a:pPr>
            <a:r>
              <a:t>Slide 9 of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926080" cy="292608"/>
          </a:xfrm>
          <a:prstGeom prst="round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latin typeface="Segoe UI"/>
              </a:defRPr>
            </a:pPr>
            <a:r>
              <a:t>SUMMARY, ROADMAP &amp; LIVE DEMO</a:t>
            </a:r>
          </a:p>
        </p:txBody>
      </p:sp>
      <p:sp>
        <p:nvSpPr>
          <p:cNvPr id="3" name="TextBox 2"/>
          <p:cNvSpPr txBox="1"/>
          <p:nvPr/>
        </p:nvSpPr>
        <p:spPr>
          <a:xfrm>
            <a:off x="731520" y="685800"/>
            <a:ext cx="10698480" cy="777240"/>
          </a:xfrm>
          <a:prstGeom prst="rect">
            <a:avLst/>
          </a:prstGeom>
          <a:noFill/>
        </p:spPr>
        <p:txBody>
          <a:bodyPr wrap="square" lIns="0" tIns="0" rIns="0" bIns="0">
            <a:spAutoFit/>
          </a:bodyPr>
          <a:lstStyle/>
          <a:p>
            <a:pPr>
              <a:defRPr sz="2200" b="1">
                <a:solidFill>
                  <a:srgbClr val="FFFFFF"/>
                </a:solidFill>
                <a:latin typeface="Segoe UI"/>
              </a:defRPr>
            </a:pPr>
            <a:r>
              <a:t>Conclusion, Future Scope &amp; Demonstration Flow</a:t>
            </a:r>
          </a:p>
          <a:p>
            <a:pPr>
              <a:spcBef>
                <a:spcPts val="300"/>
              </a:spcBef>
              <a:defRPr sz="1200">
                <a:solidFill>
                  <a:srgbClr val="CCFBF1"/>
                </a:solidFill>
                <a:latin typeface="Segoe UI"/>
              </a:defRPr>
            </a:pPr>
            <a:r>
              <a:t>A production-verified civic technology breakthrough ready for administrative evaluation</a:t>
            </a:r>
          </a:p>
        </p:txBody>
      </p:sp>
      <p:sp>
        <p:nvSpPr>
          <p:cNvPr id="4" name="Rounded Rectangle 3"/>
          <p:cNvSpPr/>
          <p:nvPr/>
        </p:nvSpPr>
        <p:spPr>
          <a:xfrm>
            <a:off x="731520" y="1691640"/>
            <a:ext cx="3383280" cy="41148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50" b="1">
                <a:solidFill>
                  <a:srgbClr val="38BDF8"/>
                </a:solidFill>
                <a:latin typeface="Segoe UI"/>
              </a:defRPr>
            </a:pPr>
            <a:r>
              <a:t>🌟 Core Innovations Delivered</a:t>
            </a:r>
          </a:p>
          <a:p>
            <a:pPr>
              <a:spcBef>
                <a:spcPts val="600"/>
              </a:spcBef>
              <a:defRPr sz="950" b="1">
                <a:solidFill>
                  <a:srgbClr val="E0F2FE"/>
                </a:solidFill>
                <a:latin typeface="Segoe UI"/>
              </a:defRPr>
            </a:pPr>
            <a:r>
              <a:t>• Unified Civic Operating System</a:t>
            </a:r>
          </a:p>
          <a:p>
            <a:pPr>
              <a:defRPr sz="850">
                <a:solidFill>
                  <a:srgbClr val="94A3B8"/>
                </a:solidFill>
                <a:latin typeface="Segoe UI"/>
              </a:defRPr>
            </a:pPr>
            <a:r>
              <a:t>Merged complaints, disaster management, and utility billing into a single responsive portal.</a:t>
            </a:r>
          </a:p>
          <a:p>
            <a:pPr>
              <a:spcBef>
                <a:spcPts val="600"/>
              </a:spcBef>
              <a:defRPr sz="950" b="1">
                <a:solidFill>
                  <a:srgbClr val="E0F2FE"/>
                </a:solidFill>
                <a:latin typeface="Segoe UI"/>
              </a:defRPr>
            </a:pPr>
            <a:r>
              <a:t>• Precision Spatial Geofencing</a:t>
            </a:r>
          </a:p>
          <a:p>
            <a:pPr>
              <a:defRPr sz="850">
                <a:solidFill>
                  <a:srgbClr val="94A3B8"/>
                </a:solidFill>
                <a:latin typeface="Segoe UI"/>
              </a:defRPr>
            </a:pPr>
            <a:r>
              <a:t>District-aware alerts, Haversine proximity evaluation, and Web Audio siren alarms.</a:t>
            </a:r>
          </a:p>
          <a:p>
            <a:pPr>
              <a:spcBef>
                <a:spcPts val="600"/>
              </a:spcBef>
              <a:defRPr sz="950" b="1">
                <a:solidFill>
                  <a:srgbClr val="E0F2FE"/>
                </a:solidFill>
                <a:latin typeface="Segoe UI"/>
              </a:defRPr>
            </a:pPr>
            <a:r>
              <a:t>• Multi-Tier Emergency Dispatch</a:t>
            </a:r>
          </a:p>
          <a:p>
            <a:pPr>
              <a:defRPr sz="850">
                <a:solidFill>
                  <a:srgbClr val="94A3B8"/>
                </a:solidFill>
                <a:latin typeface="Segoe UI"/>
              </a:defRPr>
            </a:pPr>
            <a:r>
              <a:t>1-touch SOS beacon firing concurrent Twilio SMS, Brevo HTML emails with GPS links, and Firestore logs.</a:t>
            </a:r>
          </a:p>
          <a:p>
            <a:pPr>
              <a:spcBef>
                <a:spcPts val="600"/>
              </a:spcBef>
              <a:defRPr sz="950" b="1">
                <a:solidFill>
                  <a:srgbClr val="E0F2FE"/>
                </a:solidFill>
                <a:latin typeface="Segoe UI"/>
              </a:defRPr>
            </a:pPr>
            <a:r>
              <a:t>• MSEDCL Billing &amp; Tax Invoices</a:t>
            </a:r>
          </a:p>
          <a:p>
            <a:pPr>
              <a:defRPr sz="850">
                <a:solidFill>
                  <a:srgbClr val="94A3B8"/>
                </a:solidFill>
                <a:latin typeface="Segoe UI"/>
              </a:defRPr>
            </a:pPr>
            <a:r>
              <a:t>MERC tariff calculations across Normal, Overdue (+DPC), Overpay, and Subsidized cycles.</a:t>
            </a:r>
          </a:p>
          <a:p>
            <a:pPr>
              <a:spcBef>
                <a:spcPts val="600"/>
              </a:spcBef>
              <a:defRPr sz="950" b="1">
                <a:solidFill>
                  <a:srgbClr val="E0F2FE"/>
                </a:solidFill>
                <a:latin typeface="Segoe UI"/>
              </a:defRPr>
            </a:pPr>
            <a:r>
              <a:t>• Dual-Layer Offline Persistence</a:t>
            </a:r>
          </a:p>
          <a:p>
            <a:pPr>
              <a:defRPr sz="850">
                <a:solidFill>
                  <a:srgbClr val="94A3B8"/>
                </a:solidFill>
                <a:latin typeface="Segoe UI"/>
              </a:defRPr>
            </a:pPr>
            <a:r>
              <a:t>Firestore multi-tab cache + IndexedDB pre-seeded contacts ensuring uptime during blackouts.</a:t>
            </a:r>
          </a:p>
        </p:txBody>
      </p:sp>
      <p:sp>
        <p:nvSpPr>
          <p:cNvPr id="5" name="Rounded Rectangle 4"/>
          <p:cNvSpPr/>
          <p:nvPr/>
        </p:nvSpPr>
        <p:spPr>
          <a:xfrm>
            <a:off x="4389120" y="1691640"/>
            <a:ext cx="338328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50" b="1">
                <a:solidFill>
                  <a:srgbClr val="D8B4FE"/>
                </a:solidFill>
                <a:latin typeface="Segoe UI"/>
              </a:defRPr>
            </a:pPr>
            <a:r>
              <a:t>🚀 Future Enhancement Roadmap</a:t>
            </a:r>
          </a:p>
          <a:p>
            <a:pPr>
              <a:spcBef>
                <a:spcPts val="600"/>
              </a:spcBef>
              <a:defRPr sz="950" b="1">
                <a:solidFill>
                  <a:srgbClr val="F3E8FF"/>
                </a:solidFill>
                <a:latin typeface="Segoe UI"/>
              </a:defRPr>
            </a:pPr>
            <a:r>
              <a:t>• Firestore Security Rules</a:t>
            </a:r>
          </a:p>
          <a:p>
            <a:pPr>
              <a:defRPr sz="850">
                <a:solidFill>
                  <a:srgbClr val="94A3B8"/>
                </a:solidFill>
                <a:latin typeface="Segoe UI"/>
              </a:defRPr>
            </a:pPr>
            <a:r>
              <a:t>Implement granular, authenticated Firestore security rules matching JWT user roles.</a:t>
            </a:r>
          </a:p>
          <a:p>
            <a:pPr>
              <a:spcBef>
                <a:spcPts val="600"/>
              </a:spcBef>
              <a:defRPr sz="950" b="1">
                <a:solidFill>
                  <a:srgbClr val="F3E8FF"/>
                </a:solidFill>
                <a:latin typeface="Segoe UI"/>
              </a:defRPr>
            </a:pPr>
            <a:r>
              <a:t>• Distributed Redis Caching</a:t>
            </a:r>
          </a:p>
          <a:p>
            <a:pPr>
              <a:defRPr sz="850">
                <a:solidFill>
                  <a:srgbClr val="94A3B8"/>
                </a:solidFill>
                <a:latin typeface="Segoe UI"/>
              </a:defRPr>
            </a:pPr>
            <a:r>
              <a:t>Replace in-memory Node.js Maps with Redis for distributed rate-limiting and horizontal scaling.</a:t>
            </a:r>
          </a:p>
          <a:p>
            <a:pPr>
              <a:spcBef>
                <a:spcPts val="600"/>
              </a:spcBef>
              <a:defRPr sz="950" b="1">
                <a:solidFill>
                  <a:srgbClr val="F3E8FF"/>
                </a:solidFill>
                <a:latin typeface="Segoe UI"/>
              </a:defRPr>
            </a:pPr>
            <a:r>
              <a:t>• Automated CI/CD Testing</a:t>
            </a:r>
          </a:p>
          <a:p>
            <a:pPr>
              <a:defRPr sz="850">
                <a:solidFill>
                  <a:srgbClr val="94A3B8"/>
                </a:solidFill>
                <a:latin typeface="Segoe UI"/>
              </a:defRPr>
            </a:pPr>
            <a:r>
              <a:t>Deploy GitHub Actions with Vitest unit tests and Playwright end-to-end regression suites.</a:t>
            </a:r>
          </a:p>
          <a:p>
            <a:pPr>
              <a:spcBef>
                <a:spcPts val="600"/>
              </a:spcBef>
              <a:defRPr sz="950" b="1">
                <a:solidFill>
                  <a:srgbClr val="F3E8FF"/>
                </a:solidFill>
                <a:latin typeface="Segoe UI"/>
              </a:defRPr>
            </a:pPr>
            <a:r>
              <a:t>• Official Government APIs</a:t>
            </a:r>
          </a:p>
          <a:p>
            <a:pPr>
              <a:defRPr sz="850">
                <a:solidFill>
                  <a:srgbClr val="94A3B8"/>
                </a:solidFill>
                <a:latin typeface="Segoe UI"/>
              </a:defRPr>
            </a:pPr>
            <a:r>
              <a:t>Establish direct API partnerships with Aaple Sarkar, MahaDBT, and MSEDCL Mahavitaran servers.</a:t>
            </a:r>
          </a:p>
          <a:p>
            <a:pPr>
              <a:spcBef>
                <a:spcPts val="600"/>
              </a:spcBef>
              <a:defRPr sz="950" b="1">
                <a:solidFill>
                  <a:srgbClr val="F3E8FF"/>
                </a:solidFill>
                <a:latin typeface="Segoe UI"/>
              </a:defRPr>
            </a:pPr>
            <a:r>
              <a:t>• Municipal IoT Telemetry</a:t>
            </a:r>
          </a:p>
          <a:p>
            <a:pPr>
              <a:defRPr sz="850">
                <a:solidFill>
                  <a:srgbClr val="94A3B8"/>
                </a:solidFill>
                <a:latin typeface="Segoe UI"/>
              </a:defRPr>
            </a:pPr>
            <a:r>
              <a:t>Integrate live SCADA dam level sensors and smart IoT streetlight mesh networks.</a:t>
            </a:r>
          </a:p>
        </p:txBody>
      </p:sp>
      <p:sp>
        <p:nvSpPr>
          <p:cNvPr id="6" name="Rounded Rectangle 5"/>
          <p:cNvSpPr/>
          <p:nvPr/>
        </p:nvSpPr>
        <p:spPr>
          <a:xfrm>
            <a:off x="8046720" y="1691640"/>
            <a:ext cx="3383280" cy="411480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50" b="1">
                <a:solidFill>
                  <a:srgbClr val="4ADE80"/>
                </a:solidFill>
                <a:latin typeface="Segoe UI"/>
              </a:defRPr>
            </a:pPr>
            <a:r>
              <a:t>▶️ 5-Step Live Demonstration Flow</a:t>
            </a:r>
          </a:p>
          <a:p>
            <a:pPr>
              <a:spcBef>
                <a:spcPts val="600"/>
              </a:spcBef>
              <a:defRPr sz="950" b="1">
                <a:solidFill>
                  <a:srgbClr val="DCFCE7"/>
                </a:solidFill>
                <a:latin typeface="Segoe UI"/>
              </a:defRPr>
            </a:pPr>
            <a:r>
              <a:t>• Step 1: Citizen Dashboard</a:t>
            </a:r>
          </a:p>
          <a:p>
            <a:pPr>
              <a:defRPr sz="850">
                <a:solidFill>
                  <a:srgbClr val="94A3B8"/>
                </a:solidFill>
                <a:latin typeface="Segoe UI"/>
              </a:defRPr>
            </a:pPr>
            <a:r>
              <a:t>Log in as citizen, view automatic location geocoding &amp; live spatial resilience score.</a:t>
            </a:r>
          </a:p>
          <a:p>
            <a:pPr>
              <a:spcBef>
                <a:spcPts val="600"/>
              </a:spcBef>
              <a:defRPr sz="950" b="1">
                <a:solidFill>
                  <a:srgbClr val="DCFCE7"/>
                </a:solidFill>
                <a:latin typeface="Segoe UI"/>
              </a:defRPr>
            </a:pPr>
            <a:r>
              <a:t>• Step 2: Geofenced Alerting</a:t>
            </a:r>
          </a:p>
          <a:p>
            <a:pPr>
              <a:defRPr sz="850">
                <a:solidFill>
                  <a:srgbClr val="94A3B8"/>
                </a:solidFill>
                <a:latin typeface="Segoe UI"/>
              </a:defRPr>
            </a:pPr>
            <a:r>
              <a:t>Inspect district-specific disaster alerts (Pune vs Kolhapur) with audio alarm toggle.</a:t>
            </a:r>
          </a:p>
          <a:p>
            <a:pPr>
              <a:spcBef>
                <a:spcPts val="600"/>
              </a:spcBef>
              <a:defRPr sz="950" b="1">
                <a:solidFill>
                  <a:srgbClr val="DCFCE7"/>
                </a:solidFill>
                <a:latin typeface="Segoe UI"/>
              </a:defRPr>
            </a:pPr>
            <a:r>
              <a:t>• Step 3: One-Touch SOS Beacon</a:t>
            </a:r>
          </a:p>
          <a:p>
            <a:pPr>
              <a:defRPr sz="850">
                <a:solidFill>
                  <a:srgbClr val="94A3B8"/>
                </a:solidFill>
                <a:latin typeface="Segoe UI"/>
              </a:defRPr>
            </a:pPr>
            <a:r>
              <a:t>Trigger SOS: demonstrate siren audio, coordinate capture &amp; live Brevo email dispatch.</a:t>
            </a:r>
          </a:p>
          <a:p>
            <a:pPr>
              <a:spcBef>
                <a:spcPts val="600"/>
              </a:spcBef>
              <a:defRPr sz="950" b="1">
                <a:solidFill>
                  <a:srgbClr val="DCFCE7"/>
                </a:solidFill>
                <a:latin typeface="Segoe UI"/>
              </a:defRPr>
            </a:pPr>
            <a:r>
              <a:t>• Step 4: Utility Tariff Engine</a:t>
            </a:r>
          </a:p>
          <a:p>
            <a:pPr>
              <a:defRPr sz="850">
                <a:solidFill>
                  <a:srgbClr val="94A3B8"/>
                </a:solidFill>
                <a:latin typeface="Segoe UI"/>
              </a:defRPr>
            </a:pPr>
            <a:r>
              <a:t>Fetch MSEDCL power bill, calculate overdue penalty, and inspect generated tax invoice.</a:t>
            </a:r>
          </a:p>
          <a:p>
            <a:pPr>
              <a:spcBef>
                <a:spcPts val="600"/>
              </a:spcBef>
              <a:defRPr sz="950" b="1">
                <a:solidFill>
                  <a:srgbClr val="DCFCE7"/>
                </a:solidFill>
                <a:latin typeface="Segoe UI"/>
              </a:defRPr>
            </a:pPr>
            <a:r>
              <a:t>• Step 5: Super Admin Center</a:t>
            </a:r>
          </a:p>
          <a:p>
            <a:pPr>
              <a:defRPr sz="850">
                <a:solidFill>
                  <a:srgbClr val="94A3B8"/>
                </a:solidFill>
                <a:latin typeface="Segoe UI"/>
              </a:defRPr>
            </a:pPr>
            <a:r>
              <a:t>Switch to Super Admin portal, review live ticket feeds, and toggle Statewide Emergency Mode.</a:t>
            </a:r>
          </a:p>
        </p:txBody>
      </p:sp>
      <p:sp>
        <p:nvSpPr>
          <p:cNvPr id="7" name="Rounded Rectangle 6"/>
          <p:cNvSpPr/>
          <p:nvPr/>
        </p:nvSpPr>
        <p:spPr>
          <a:xfrm>
            <a:off x="731520" y="5897880"/>
            <a:ext cx="10698480" cy="438912"/>
          </a:xfrm>
          <a:prstGeom prst="round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850" b="1">
                <a:solidFill>
                  <a:srgbClr val="FDE047"/>
                </a:solidFill>
                <a:latin typeface="Segoe UI"/>
              </a:rPr>
              <a:t>🎯 UN SDGs &amp; NEP 2020 Alignment (CEP 231CSECEPP201): </a:t>
            </a:r>
            <a:r>
              <a:rPr sz="850" b="1">
                <a:solidFill>
                  <a:srgbClr val="A7F3D0"/>
                </a:solidFill>
                <a:latin typeface="Segoe UI"/>
              </a:rPr>
              <a:t>★ SDG 3 (Health) | ★ SDG 8 (Decent Work) | ★ SDG 16 (Strong Institutions) | ★ SDG 17 (Partnerships)</a:t>
            </a:r>
            <a:r>
              <a:rPr sz="800">
                <a:solidFill>
                  <a:srgbClr val="94A3B8"/>
                </a:solidFill>
                <a:latin typeface="Segoe UI"/>
              </a:rPr>
              <a:t>  •  Supporting: SDG 1, 2, 5, 6, 7, 9, 11, 13</a:t>
            </a:r>
          </a:p>
        </p:txBody>
      </p:sp>
      <p:sp>
        <p:nvSpPr>
          <p:cNvPr id="8" name="TextBox 7"/>
          <p:cNvSpPr txBox="1"/>
          <p:nvPr/>
        </p:nvSpPr>
        <p:spPr>
          <a:xfrm>
            <a:off x="731520" y="6355080"/>
            <a:ext cx="10698480" cy="320040"/>
          </a:xfrm>
          <a:prstGeom prst="rect">
            <a:avLst/>
          </a:prstGeom>
          <a:noFill/>
        </p:spPr>
        <p:txBody>
          <a:bodyPr wrap="square" lIns="0" tIns="0" rIns="0" bIns="0">
            <a:spAutoFit/>
          </a:bodyPr>
          <a:lstStyle/>
          <a:p>
            <a:pPr>
              <a:defRPr sz="900">
                <a:solidFill>
                  <a:srgbClr val="94A3B8"/>
                </a:solidFill>
                <a:latin typeface="Segoe UI"/>
              </a:defRPr>
            </a:pPr>
            <a:r>
              <a:t>MahaResilience (Smart Community Hub)  |  Presenter: Sanskar Dhat  |  Portal: mahareilience.web.app</a:t>
            </a:r>
          </a:p>
          <a:p>
            <a:pPr algn="r">
              <a:defRPr sz="900" b="1">
                <a:solidFill>
                  <a:srgbClr val="94A3B8"/>
                </a:solidFill>
                <a:latin typeface="Segoe UI"/>
              </a:defRPr>
            </a:pPr>
            <a:r>
              <a:t>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